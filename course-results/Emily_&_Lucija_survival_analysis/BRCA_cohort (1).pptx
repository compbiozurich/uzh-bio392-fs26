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59" r:id="rId6"/>
    <p:sldId id="261" r:id="rId7"/>
    <p:sldId id="272" r:id="rId8"/>
    <p:sldId id="277" r:id="rId9"/>
    <p:sldId id="257" r:id="rId10"/>
    <p:sldId id="258" r:id="rId11"/>
    <p:sldId id="265" r:id="rId12"/>
    <p:sldId id="274" r:id="rId13"/>
    <p:sldId id="273" r:id="rId14"/>
    <p:sldId id="280" r:id="rId15"/>
    <p:sldId id="267" r:id="rId16"/>
    <p:sldId id="268" r:id="rId17"/>
    <p:sldId id="269" r:id="rId18"/>
    <p:sldId id="276"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6ACAA-49B1-45F7-A83A-00EF108C998F}" v="1297" dt="2026-04-30T11:36:44.473"/>
    <p1510:client id="{7DA17BF8-D457-4E59-88AE-63D4F40F3BF7}" v="321" dt="2026-04-30T14:10:21.420"/>
    <p1510:client id="{84041B89-962C-D91F-98AC-C32F79A02866}" v="1584" dt="2026-04-30T11:20:18.696"/>
    <p1510:client id="{893292FF-1146-A2B4-3420-C27B0D0337F8}" v="104" dt="2026-04-30T09:07:22.636"/>
    <p1510:client id="{9BBFDE3E-6D95-84F8-AB39-7135088BB457}" v="22" dt="2026-04-30T15:25:25.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856C4-83A1-48D8-B085-78A2C535AC9B}" type="datetimeFigureOut">
              <a:rPr lang="en-GB" smtClean="0"/>
              <a:t>30/04/2026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E4C3A3-7A7C-44FA-AEF2-B16E85C2B2FD}" type="slidenum">
              <a:rPr lang="en-GB" smtClean="0"/>
              <a:t>‹#›</a:t>
            </a:fld>
            <a:endParaRPr lang="en-GB"/>
          </a:p>
        </p:txBody>
      </p:sp>
    </p:spTree>
    <p:extLst>
      <p:ext uri="{BB962C8B-B14F-4D97-AF65-F5344CB8AC3E}">
        <p14:creationId xmlns:p14="http://schemas.microsoft.com/office/powerpoint/2010/main" val="759486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mn-lt"/>
                <a:ea typeface="+mn-ea"/>
                <a:cs typeface="+mn-cs"/>
              </a:rPr>
              <a:t>Merge </a:t>
            </a:r>
            <a:r>
              <a:rPr lang="en-US" sz="1200" b="0" kern="1200" err="1">
                <a:solidFill>
                  <a:schemeClr val="tx1"/>
                </a:solidFill>
                <a:effectLst/>
                <a:latin typeface="+mn-lt"/>
                <a:ea typeface="+mn-ea"/>
                <a:cs typeface="+mn-cs"/>
              </a:rPr>
              <a:t>Biosample</a:t>
            </a:r>
            <a:r>
              <a:rPr lang="en-US" sz="1200" b="0" kern="1200">
                <a:solidFill>
                  <a:schemeClr val="tx1"/>
                </a:solidFill>
                <a:effectLst/>
                <a:latin typeface="+mn-lt"/>
                <a:ea typeface="+mn-ea"/>
                <a:cs typeface="+mn-cs"/>
              </a:rPr>
              <a:t> and Individual with </a:t>
            </a:r>
            <a:r>
              <a:rPr lang="en-US" sz="1200" b="0" kern="1200" err="1">
                <a:solidFill>
                  <a:schemeClr val="tx1"/>
                </a:solidFill>
                <a:effectLst/>
                <a:latin typeface="+mn-lt"/>
                <a:ea typeface="+mn-ea"/>
                <a:cs typeface="+mn-cs"/>
              </a:rPr>
              <a:t>individual_id</a:t>
            </a:r>
            <a:r>
              <a:rPr lang="hr-HR" sz="1200" b="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2219</a:t>
            </a:r>
            <a:endParaRPr lang="en-US" sz="1200" b="0" kern="1200">
              <a:solidFill>
                <a:schemeClr val="tx1"/>
              </a:solidFill>
              <a:effectLst/>
              <a:latin typeface="+mn-lt"/>
              <a:ea typeface="+mn-ea"/>
              <a:cs typeface="+mn-cs"/>
            </a:endParaRPr>
          </a:p>
          <a:p>
            <a:endParaRPr lang="en-GB"/>
          </a:p>
        </p:txBody>
      </p:sp>
      <p:sp>
        <p:nvSpPr>
          <p:cNvPr id="4" name="Slide Number Placeholder 3"/>
          <p:cNvSpPr>
            <a:spLocks noGrp="1"/>
          </p:cNvSpPr>
          <p:nvPr>
            <p:ph type="sldNum" sz="quarter" idx="5"/>
          </p:nvPr>
        </p:nvSpPr>
        <p:spPr/>
        <p:txBody>
          <a:bodyPr/>
          <a:lstStyle/>
          <a:p>
            <a:fld id="{6FE4C3A3-7A7C-44FA-AEF2-B16E85C2B2FD}" type="slidenum">
              <a:rPr lang="en-GB" smtClean="0"/>
              <a:t>2</a:t>
            </a:fld>
            <a:endParaRPr lang="en-GB"/>
          </a:p>
        </p:txBody>
      </p:sp>
    </p:spTree>
    <p:extLst>
      <p:ext uri="{BB962C8B-B14F-4D97-AF65-F5344CB8AC3E}">
        <p14:creationId xmlns:p14="http://schemas.microsoft.com/office/powerpoint/2010/main" val="1799044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a:t>First run the model without the stage covariate &gt; HR of gain was alsmost the same as seen here, erbb2 loss was about 1.5, sex was 2.5</a:t>
            </a:r>
          </a:p>
          <a:p>
            <a:r>
              <a:rPr lang="hr-HR"/>
              <a:t>Stage is the stongest predictor &gt; by one stage increse patient has 3x higher risk of death</a:t>
            </a:r>
          </a:p>
          <a:p>
            <a:endParaRPr lang="hr-HR"/>
          </a:p>
          <a:p>
            <a:r>
              <a:rPr lang="hr-HR"/>
              <a:t>Index: very good &gt; </a:t>
            </a:r>
            <a:r>
              <a:rPr lang="en-US"/>
              <a:t>model with </a:t>
            </a:r>
            <a:r>
              <a:rPr lang="en-US" b="1"/>
              <a:t>4 covariates</a:t>
            </a:r>
            <a:r>
              <a:rPr lang="en-US"/>
              <a:t> (ERBB2 gain/loss, sex, stage) correctly ranks ~70.5% of patient pairs by survival outcome</a:t>
            </a:r>
            <a:endParaRPr lang="hr-HR"/>
          </a:p>
          <a:p>
            <a:endParaRPr lang="hr-HR"/>
          </a:p>
          <a:p>
            <a:r>
              <a:rPr lang="hr-HR"/>
              <a:t>It is very contradictive than expected, from the literature we would expect that gain hits would increse the risk of death rather than decreasing it</a:t>
            </a:r>
          </a:p>
          <a:p>
            <a:r>
              <a:rPr lang="hr-HR"/>
              <a:t>Lose hits would not lead to sig change in risk death</a:t>
            </a:r>
            <a:endParaRPr lang="en-GB"/>
          </a:p>
        </p:txBody>
      </p:sp>
      <p:sp>
        <p:nvSpPr>
          <p:cNvPr id="4" name="Slide Number Placeholder 3"/>
          <p:cNvSpPr>
            <a:spLocks noGrp="1"/>
          </p:cNvSpPr>
          <p:nvPr>
            <p:ph type="sldNum" sz="quarter" idx="5"/>
          </p:nvPr>
        </p:nvSpPr>
        <p:spPr/>
        <p:txBody>
          <a:bodyPr/>
          <a:lstStyle/>
          <a:p>
            <a:fld id="{6FE4C3A3-7A7C-44FA-AEF2-B16E85C2B2FD}" type="slidenum">
              <a:rPr lang="en-GB" smtClean="0"/>
              <a:t>8</a:t>
            </a:fld>
            <a:endParaRPr lang="en-GB"/>
          </a:p>
        </p:txBody>
      </p:sp>
    </p:spTree>
    <p:extLst>
      <p:ext uri="{BB962C8B-B14F-4D97-AF65-F5344CB8AC3E}">
        <p14:creationId xmlns:p14="http://schemas.microsoft.com/office/powerpoint/2010/main" val="3060296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E4C3A3-7A7C-44FA-AEF2-B16E85C2B2FD}" type="slidenum">
              <a:rPr lang="en-GB" smtClean="0"/>
              <a:t>9</a:t>
            </a:fld>
            <a:endParaRPr lang="en-GB"/>
          </a:p>
        </p:txBody>
      </p:sp>
    </p:spTree>
    <p:extLst>
      <p:ext uri="{BB962C8B-B14F-4D97-AF65-F5344CB8AC3E}">
        <p14:creationId xmlns:p14="http://schemas.microsoft.com/office/powerpoint/2010/main" val="1090324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F617-CB6C-05EA-8000-0153206ED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1D93A-CA6F-A11D-B072-977AEDE7C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42999-11EE-6D6B-A22D-894820BC4617}"/>
              </a:ext>
            </a:extLst>
          </p:cNvPr>
          <p:cNvSpPr>
            <a:spLocks noGrp="1"/>
          </p:cNvSpPr>
          <p:nvPr>
            <p:ph type="body" idx="1"/>
          </p:nvPr>
        </p:nvSpPr>
        <p:spPr/>
        <p:txBody>
          <a:bodyPr/>
          <a:lstStyle/>
          <a:p>
            <a:r>
              <a:rPr lang="en-US"/>
              <a:t>We wanted to run the model also for another gene involved in breast cancer, and we chose MYC is a downstream effector of ERBB2 signaling and an oncogene. 15-30% of breast cancers overexpress MYC, and overexpression or amplification of it is associated with aggressive disease and poor diagnosis. Therefore, in our survival analysis, we expect worse survival for MYC gain.</a:t>
            </a:r>
          </a:p>
        </p:txBody>
      </p:sp>
      <p:sp>
        <p:nvSpPr>
          <p:cNvPr id="4" name="Slide Number Placeholder 3">
            <a:extLst>
              <a:ext uri="{FF2B5EF4-FFF2-40B4-BE49-F238E27FC236}">
                <a16:creationId xmlns:a16="http://schemas.microsoft.com/office/drawing/2014/main" id="{3AC73292-664F-F491-9720-F77932C1E70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4386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In the Kaplan-Meier analysis, we see that the survival probability was significantly worse when there were CNVs of MYC.</a:t>
            </a:r>
          </a:p>
        </p:txBody>
      </p:sp>
      <p:sp>
        <p:nvSpPr>
          <p:cNvPr id="4" name="Slide Number Placeholder 3"/>
          <p:cNvSpPr>
            <a:spLocks noGrp="1"/>
          </p:cNvSpPr>
          <p:nvPr>
            <p:ph type="sldNum" sz="quarter" idx="5"/>
          </p:nvPr>
        </p:nvSpPr>
        <p:spPr/>
        <p:txBody>
          <a:bodyPr/>
          <a:lstStyle/>
          <a:p>
            <a:fld id="{6FE4C3A3-7A7C-44FA-AEF2-B16E85C2B2FD}" type="slidenum">
              <a:rPr lang="en-GB" smtClean="0"/>
              <a:t>12</a:t>
            </a:fld>
            <a:endParaRPr lang="en-GB"/>
          </a:p>
        </p:txBody>
      </p:sp>
    </p:spTree>
    <p:extLst>
      <p:ext uri="{BB962C8B-B14F-4D97-AF65-F5344CB8AC3E}">
        <p14:creationId xmlns:p14="http://schemas.microsoft.com/office/powerpoint/2010/main" val="3562973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However, when we look at the gains and losses, we see something </a:t>
            </a:r>
            <a:r>
              <a:rPr lang="en-US" err="1">
                <a:latin typeface="Calibri"/>
                <a:ea typeface="Calibri"/>
                <a:cs typeface="Calibri"/>
              </a:rPr>
              <a:t>counterintuitative</a:t>
            </a:r>
            <a:r>
              <a:rPr lang="en-US">
                <a:latin typeface="Calibri"/>
                <a:ea typeface="Calibri"/>
                <a:cs typeface="Calibri"/>
              </a:rPr>
              <a:t>: a slightly lower survival probability for a MYC CNV gain and a much lower survival for MYC loss. </a:t>
            </a:r>
            <a:endParaRPr lang="en-US">
              <a:latin typeface="Aptos" panose="02110004020202020204"/>
              <a:ea typeface="Calibri"/>
              <a:cs typeface="Calibri"/>
            </a:endParaRPr>
          </a:p>
          <a:p>
            <a:r>
              <a:rPr lang="en-US">
                <a:latin typeface="Calibri"/>
                <a:ea typeface="Calibri"/>
                <a:cs typeface="Calibri"/>
              </a:rPr>
              <a:t>It's important to mention that MYC losses occurred very often, in almost half of the samples. This might explain some of it, but not all. Therefore, we thought that there were some confounding factors that affected survival, especially the stage of the cancer.</a:t>
            </a:r>
            <a:endParaRPr lang="en-US"/>
          </a:p>
          <a:p>
            <a:r>
              <a:rPr lang="en-US">
                <a:latin typeface="Calibri"/>
                <a:ea typeface="Calibri"/>
                <a:cs typeface="Calibri"/>
              </a:rPr>
              <a:t>Important: this is without adjustment for stage.</a:t>
            </a:r>
            <a:endParaRPr lang="en-US"/>
          </a:p>
        </p:txBody>
      </p:sp>
      <p:sp>
        <p:nvSpPr>
          <p:cNvPr id="4" name="Slide Number Placeholder 3"/>
          <p:cNvSpPr>
            <a:spLocks noGrp="1"/>
          </p:cNvSpPr>
          <p:nvPr>
            <p:ph type="sldNum" sz="quarter" idx="5"/>
          </p:nvPr>
        </p:nvSpPr>
        <p:spPr/>
        <p:txBody>
          <a:bodyPr/>
          <a:lstStyle/>
          <a:p>
            <a:fld id="{6FE4C3A3-7A7C-44FA-AEF2-B16E85C2B2FD}" type="slidenum">
              <a:rPr lang="en-GB" smtClean="0"/>
              <a:t>13</a:t>
            </a:fld>
            <a:endParaRPr lang="en-GB"/>
          </a:p>
        </p:txBody>
      </p:sp>
    </p:spTree>
    <p:extLst>
      <p:ext uri="{BB962C8B-B14F-4D97-AF65-F5344CB8AC3E}">
        <p14:creationId xmlns:p14="http://schemas.microsoft.com/office/powerpoint/2010/main" val="340381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First ran the model without stage: showed high hazard ratio for loss hit, low hazard ratio for gain hit. </a:t>
            </a:r>
            <a:endParaRPr lang="en-US"/>
          </a:p>
          <a:p>
            <a:r>
              <a:rPr lang="en-US">
                <a:latin typeface="Calibri"/>
                <a:ea typeface="Calibri"/>
                <a:cs typeface="Calibri"/>
              </a:rPr>
              <a:t>Then we ran the model to include the stage to see if it was a confounding factor, and that looks much better. </a:t>
            </a:r>
          </a:p>
          <a:p>
            <a:pPr marL="171450" indent="-171450">
              <a:lnSpc>
                <a:spcPct val="90000"/>
              </a:lnSpc>
              <a:spcBef>
                <a:spcPts val="1000"/>
              </a:spcBef>
              <a:buFont typeface="Arial"/>
              <a:buChar char="•"/>
            </a:pPr>
            <a:r>
              <a:rPr lang="en-US"/>
              <a:t>MYC gain HR = 1.56 makes a lot of sense — amplification of the oncogene should worsen survival</a:t>
            </a:r>
          </a:p>
          <a:p>
            <a:pPr marL="171450" indent="-171450">
              <a:lnSpc>
                <a:spcPct val="90000"/>
              </a:lnSpc>
              <a:spcBef>
                <a:spcPts val="1000"/>
              </a:spcBef>
              <a:buFont typeface="Arial"/>
              <a:buChar char="•"/>
            </a:pPr>
            <a:r>
              <a:rPr lang="en-US"/>
              <a:t>MYC loss HR = 1.01 is essentially neutral, which also makes sense </a:t>
            </a:r>
          </a:p>
          <a:p>
            <a:pPr marL="171450" indent="-171450">
              <a:lnSpc>
                <a:spcPct val="90000"/>
              </a:lnSpc>
              <a:spcBef>
                <a:spcPts val="1000"/>
              </a:spcBef>
              <a:buFont typeface="Arial"/>
              <a:buChar char="•"/>
            </a:pPr>
            <a:r>
              <a:rPr lang="en-US"/>
              <a:t>Stage HR was very high, what we expect. It was nearly identical like in the ERBB2 model, which is  a great internal validation. </a:t>
            </a:r>
          </a:p>
          <a:p>
            <a:pPr marL="171450" indent="-171450">
              <a:lnSpc>
                <a:spcPct val="90000"/>
              </a:lnSpc>
              <a:spcBef>
                <a:spcPts val="1000"/>
              </a:spcBef>
              <a:buFont typeface="Arial"/>
              <a:buChar char="•"/>
            </a:pPr>
            <a:r>
              <a:rPr lang="en-US"/>
              <a:t>High concordance ratio, so model fits well.</a:t>
            </a:r>
          </a:p>
        </p:txBody>
      </p:sp>
      <p:sp>
        <p:nvSpPr>
          <p:cNvPr id="4" name="Slide Number Placeholder 3"/>
          <p:cNvSpPr>
            <a:spLocks noGrp="1"/>
          </p:cNvSpPr>
          <p:nvPr>
            <p:ph type="sldNum" sz="quarter" idx="5"/>
          </p:nvPr>
        </p:nvSpPr>
        <p:spPr/>
        <p:txBody>
          <a:bodyPr/>
          <a:lstStyle/>
          <a:p>
            <a:fld id="{6FE4C3A3-7A7C-44FA-AEF2-B16E85C2B2FD}" type="slidenum">
              <a:rPr lang="en-GB" smtClean="0"/>
              <a:t>14</a:t>
            </a:fld>
            <a:endParaRPr lang="en-GB"/>
          </a:p>
        </p:txBody>
      </p:sp>
    </p:spTree>
    <p:extLst>
      <p:ext uri="{BB962C8B-B14F-4D97-AF65-F5344CB8AC3E}">
        <p14:creationId xmlns:p14="http://schemas.microsoft.com/office/powerpoint/2010/main" val="1168304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The cox model improved a lot when we took </a:t>
            </a:r>
            <a:r>
              <a:rPr lang="en-US" err="1">
                <a:latin typeface="Calibri"/>
                <a:ea typeface="Calibri"/>
                <a:cs typeface="Calibri"/>
              </a:rPr>
              <a:t>sta</a:t>
            </a:r>
            <a:r>
              <a:rPr lang="en-US">
                <a:latin typeface="Calibri"/>
                <a:ea typeface="Calibri"/>
                <a:cs typeface="Calibri"/>
              </a:rPr>
              <a:t>ge into account, so it was an important confounding variable.</a:t>
            </a:r>
          </a:p>
          <a:p>
            <a:r>
              <a:rPr lang="en-US">
                <a:latin typeface="Calibri"/>
                <a:ea typeface="Calibri"/>
                <a:cs typeface="Calibri"/>
              </a:rPr>
              <a:t>As a next step, we should run the </a:t>
            </a:r>
            <a:r>
              <a:rPr lang="en-US" err="1">
                <a:latin typeface="Calibri"/>
                <a:ea typeface="Calibri"/>
                <a:cs typeface="Calibri"/>
              </a:rPr>
              <a:t>kaplan</a:t>
            </a:r>
            <a:r>
              <a:rPr lang="en-US">
                <a:latin typeface="Calibri"/>
                <a:ea typeface="Calibri"/>
                <a:cs typeface="Calibri"/>
              </a:rPr>
              <a:t> </a:t>
            </a:r>
            <a:r>
              <a:rPr lang="en-US" err="1">
                <a:latin typeface="Calibri"/>
                <a:ea typeface="Calibri"/>
                <a:cs typeface="Calibri"/>
              </a:rPr>
              <a:t>meier</a:t>
            </a:r>
            <a:r>
              <a:rPr lang="en-US">
                <a:latin typeface="Calibri"/>
                <a:ea typeface="Calibri"/>
                <a:cs typeface="Calibri"/>
              </a:rPr>
              <a:t> survival analysis or another survival analysis that takes stage, and other possible confounding variables such as age or treatment into account, to see if it yields more intuitive results.</a:t>
            </a:r>
          </a:p>
        </p:txBody>
      </p:sp>
      <p:sp>
        <p:nvSpPr>
          <p:cNvPr id="4" name="Slide Number Placeholder 3"/>
          <p:cNvSpPr>
            <a:spLocks noGrp="1"/>
          </p:cNvSpPr>
          <p:nvPr>
            <p:ph type="sldNum" sz="quarter" idx="5"/>
          </p:nvPr>
        </p:nvSpPr>
        <p:spPr/>
        <p:txBody>
          <a:bodyPr/>
          <a:lstStyle/>
          <a:p>
            <a:fld id="{6FE4C3A3-7A7C-44FA-AEF2-B16E85C2B2FD}" type="slidenum">
              <a:rPr lang="en-GB" smtClean="0"/>
              <a:t>15</a:t>
            </a:fld>
            <a:endParaRPr lang="en-GB"/>
          </a:p>
        </p:txBody>
      </p:sp>
    </p:spTree>
    <p:extLst>
      <p:ext uri="{BB962C8B-B14F-4D97-AF65-F5344CB8AC3E}">
        <p14:creationId xmlns:p14="http://schemas.microsoft.com/office/powerpoint/2010/main" val="538434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p>
          <a:p>
            <a:pPr marL="285750" indent="-285750">
              <a:lnSpc>
                <a:spcPct val="90000"/>
              </a:lnSpc>
              <a:spcBef>
                <a:spcPts val="1000"/>
              </a:spcBef>
              <a:buFont typeface="Arial"/>
              <a:buChar char="•"/>
            </a:pPr>
            <a:r>
              <a:rPr lang="en-US"/>
              <a:t>MYC survival analysis worked better than ERBB2: might also be </a:t>
            </a:r>
            <a:r>
              <a:rPr lang="en-US" err="1"/>
              <a:t>bcs</a:t>
            </a:r>
            <a:r>
              <a:rPr lang="en-US"/>
              <a:t> it's not directly treatable like ERBB2+ breast cancer</a:t>
            </a:r>
          </a:p>
          <a:p>
            <a:pPr marL="285750" indent="-285750">
              <a:lnSpc>
                <a:spcPct val="90000"/>
              </a:lnSpc>
              <a:spcBef>
                <a:spcPts val="1000"/>
              </a:spcBef>
              <a:buFont typeface="Arial"/>
              <a:buChar char="•"/>
            </a:pPr>
            <a:r>
              <a:rPr lang="en-US"/>
              <a:t>CNV data is not the best for determining over-/ or </a:t>
            </a:r>
            <a:r>
              <a:rPr lang="en-US" err="1"/>
              <a:t>underexpressionof</a:t>
            </a:r>
            <a:r>
              <a:rPr lang="en-US"/>
              <a:t> the genes =&gt; IHC for protein expression would be better suited</a:t>
            </a:r>
          </a:p>
          <a:p>
            <a:pPr marL="285750" indent="-285750">
              <a:lnSpc>
                <a:spcPct val="90000"/>
              </a:lnSpc>
              <a:spcBef>
                <a:spcPts val="1000"/>
              </a:spcBef>
              <a:buFont typeface="Arial"/>
              <a:buChar char="•"/>
            </a:pPr>
            <a:r>
              <a:rPr lang="en-US"/>
              <a:t>There might be more confounding factors, such as age </a:t>
            </a:r>
            <a:r>
              <a:rPr lang="en-US" err="1"/>
              <a:t>ortreatment</a:t>
            </a:r>
            <a:r>
              <a:rPr lang="en-US"/>
              <a:t>, that should also be included in the model</a:t>
            </a:r>
          </a:p>
          <a:p>
            <a:pPr marL="285750" indent="-285750">
              <a:lnSpc>
                <a:spcPct val="90000"/>
              </a:lnSpc>
              <a:spcBef>
                <a:spcPts val="1000"/>
              </a:spcBef>
              <a:buFont typeface="Arial"/>
              <a:buChar char="•"/>
            </a:pPr>
            <a:r>
              <a:rPr lang="en-US"/>
              <a:t>It would also be interesting to look at the survival rates for </a:t>
            </a:r>
            <a:r>
              <a:rPr lang="en-US" err="1"/>
              <a:t>MYCand</a:t>
            </a:r>
            <a:r>
              <a:rPr lang="en-US"/>
              <a:t> ERBB2 co-expression </a:t>
            </a:r>
          </a:p>
          <a:p>
            <a:pPr>
              <a:lnSpc>
                <a:spcPct val="90000"/>
              </a:lnSpc>
              <a:spcBef>
                <a:spcPts val="1000"/>
              </a:spcBef>
            </a:pP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6FE4C3A3-7A7C-44FA-AEF2-B16E85C2B2FD}" type="slidenum">
              <a:rPr lang="en-GB" smtClean="0"/>
              <a:t>16</a:t>
            </a:fld>
            <a:endParaRPr lang="en-GB"/>
          </a:p>
        </p:txBody>
      </p:sp>
    </p:spTree>
    <p:extLst>
      <p:ext uri="{BB962C8B-B14F-4D97-AF65-F5344CB8AC3E}">
        <p14:creationId xmlns:p14="http://schemas.microsoft.com/office/powerpoint/2010/main" val="115034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A603-9DC9-7A01-E7BD-55099187EC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4289437-47C3-4F3F-9F42-D8E83888F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61DBA6F-0DA7-9DC2-B29F-3BF8B69C7FAE}"/>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F2DB4269-400B-45AA-0F9A-A630714DD7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D35D90-2196-FB2B-49D6-18BC41F0EAA1}"/>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4130082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49C9E-67D6-7DBB-1872-8A4DF2AB5C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E5E0F4-8509-3F42-AA63-03677D27AF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FBA09A-98B2-8FD9-A17D-E31EC597B801}"/>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7A8CDA67-A254-6F12-25FD-A85DA25DDF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FDF094-8C86-C12E-2B3D-50336F401BB6}"/>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2813062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CA97-527E-5B6C-0633-C678306B57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184C594-3D67-7674-8B20-B85B5CD0DB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27D464-C68C-B371-0A9F-0BE1A741A4FE}"/>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9330B87E-7F9A-FC05-4B61-3BB81CCF46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AA8746-11C2-1316-4AE0-3692E3639331}"/>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488669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59FF4-B03D-9293-1056-9B2AB42267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4CC8AA-8E3F-1962-12E6-F8E8782472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CF9285F-CD34-1B02-FB78-21A6D613BF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5FD746-128B-FE7D-69CE-76940DB75D02}"/>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6" name="Footer Placeholder 5">
            <a:extLst>
              <a:ext uri="{FF2B5EF4-FFF2-40B4-BE49-F238E27FC236}">
                <a16:creationId xmlns:a16="http://schemas.microsoft.com/office/drawing/2014/main" id="{CC55567A-253D-52CF-28A3-E0DFA42CAD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664D90-C105-F987-8D60-64EF83794D6D}"/>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254232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A60-479F-8FF4-5582-C551B76755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1DC7DD7-4710-759C-DC34-60EBEF6CE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D4E5A-1794-A1FD-9DDA-81C40778D7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6405AC4-3B53-BF9B-2760-0AFCE70814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FD0BED-C35C-1460-4D48-D219F48443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5DEE66E-857D-FCB4-E351-1E4C586C5583}"/>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8" name="Footer Placeholder 7">
            <a:extLst>
              <a:ext uri="{FF2B5EF4-FFF2-40B4-BE49-F238E27FC236}">
                <a16:creationId xmlns:a16="http://schemas.microsoft.com/office/drawing/2014/main" id="{B5316546-EAD5-56C7-F138-CC90633764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B339903-C5EB-2B85-36A1-388E0358B7A4}"/>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1968920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0DCD-7077-7104-F050-7C2214B571C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54A866E-5C61-3924-D7C2-212EC85FAF9E}"/>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4" name="Footer Placeholder 3">
            <a:extLst>
              <a:ext uri="{FF2B5EF4-FFF2-40B4-BE49-F238E27FC236}">
                <a16:creationId xmlns:a16="http://schemas.microsoft.com/office/drawing/2014/main" id="{80ECD828-0E06-3B04-ED98-AFD4C1F57DC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11BD0BD-1C5A-23B6-2F91-0CFACD745709}"/>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2522179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53FD74-A3B4-3B5D-2C04-18E89A096A46}"/>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3" name="Footer Placeholder 2">
            <a:extLst>
              <a:ext uri="{FF2B5EF4-FFF2-40B4-BE49-F238E27FC236}">
                <a16:creationId xmlns:a16="http://schemas.microsoft.com/office/drawing/2014/main" id="{0CAE150C-6E0B-231A-24A0-5E7691BD112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A99E86C-52FE-E670-BC6E-92FCCFF61D72}"/>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648291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1EF7-3A2A-E6AC-2B63-17FD73DE52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43D201C-F147-3673-BC3B-E404C05160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50C19D6-15FB-A0C9-E8D6-C2BA9408A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DB1C10-C648-19D6-0559-FAAE959C28D5}"/>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6" name="Footer Placeholder 5">
            <a:extLst>
              <a:ext uri="{FF2B5EF4-FFF2-40B4-BE49-F238E27FC236}">
                <a16:creationId xmlns:a16="http://schemas.microsoft.com/office/drawing/2014/main" id="{DE10A040-A405-AC62-6DF8-990A1F0E3B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07DD90-3D0C-64F4-72C9-64C9ABE0956E}"/>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195941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4CB6-B50F-1577-C63F-7937D6F38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D568073-FA13-1789-70E7-F5E0D50631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7A8D070-506E-F475-B42F-071D60932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CB4E2F-7BB0-646E-8B36-39168ECBB2A4}"/>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6" name="Footer Placeholder 5">
            <a:extLst>
              <a:ext uri="{FF2B5EF4-FFF2-40B4-BE49-F238E27FC236}">
                <a16:creationId xmlns:a16="http://schemas.microsoft.com/office/drawing/2014/main" id="{D6DA2C3F-B805-D512-88D4-57CBE88EDE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DE46A8-4E7F-3728-7D29-9016A14588B1}"/>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1410887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D3B6-E88D-D208-B538-CE1D62388CA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86853E5-44ED-2D86-DC1D-E6B89BC0E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FD97C0-0969-1B1D-1837-54FDED9C5221}"/>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D16003F5-8512-3E57-A3A2-6A82EA8929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BAA195-8CC6-816E-0F67-3603FD658D71}"/>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49776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86573E-6129-048A-320F-5F876384F3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335E1B-B7A5-D588-9562-3DB8C6C55C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153DE3-67DA-62D2-7DEB-97A034D18042}"/>
              </a:ext>
            </a:extLst>
          </p:cNvPr>
          <p:cNvSpPr>
            <a:spLocks noGrp="1"/>
          </p:cNvSpPr>
          <p:nvPr>
            <p:ph type="dt" sz="half" idx="10"/>
          </p:nvPr>
        </p:nvSpPr>
        <p:spPr/>
        <p:txBody>
          <a:body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BE8022CE-8919-1AB9-1786-CC766088D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883F32-E506-7975-58E6-89F912D74E76}"/>
              </a:ext>
            </a:extLst>
          </p:cNvPr>
          <p:cNvSpPr>
            <a:spLocks noGrp="1"/>
          </p:cNvSpPr>
          <p:nvPr>
            <p:ph type="sldNum" sz="quarter" idx="12"/>
          </p:nvPr>
        </p:nvSpPr>
        <p:spPr/>
        <p:txBody>
          <a:bodyPr/>
          <a:lstStyle/>
          <a:p>
            <a:fld id="{42ABB7AD-8316-4A96-B4E4-2A35BCAA848D}" type="slidenum">
              <a:rPr lang="en-GB" smtClean="0"/>
              <a:t>‹#›</a:t>
            </a:fld>
            <a:endParaRPr lang="en-GB"/>
          </a:p>
        </p:txBody>
      </p:sp>
    </p:spTree>
    <p:extLst>
      <p:ext uri="{BB962C8B-B14F-4D97-AF65-F5344CB8AC3E}">
        <p14:creationId xmlns:p14="http://schemas.microsoft.com/office/powerpoint/2010/main" val="3368942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443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E6E300-4D87-28C9-B5B3-C44C2FB13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7C988AE-A85E-1329-2DFE-02EC100934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40714A-F1FF-FDA2-DC55-6FA997D3F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5F896A-5AC4-41F0-B8C9-0F81C335A0D2}" type="datetimeFigureOut">
              <a:rPr lang="en-GB" smtClean="0"/>
              <a:t>30/04/2026</a:t>
            </a:fld>
            <a:endParaRPr lang="en-GB"/>
          </a:p>
        </p:txBody>
      </p:sp>
      <p:sp>
        <p:nvSpPr>
          <p:cNvPr id="5" name="Footer Placeholder 4">
            <a:extLst>
              <a:ext uri="{FF2B5EF4-FFF2-40B4-BE49-F238E27FC236}">
                <a16:creationId xmlns:a16="http://schemas.microsoft.com/office/drawing/2014/main" id="{51F5B754-EF0B-6314-F5B8-9ACC9E0132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E4348D4-542E-C083-B258-2746577C3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ABB7AD-8316-4A96-B4E4-2A35BCAA848D}" type="slidenum">
              <a:rPr lang="en-GB" smtClean="0"/>
              <a:t>‹#›</a:t>
            </a:fld>
            <a:endParaRPr lang="en-GB"/>
          </a:p>
        </p:txBody>
      </p:sp>
    </p:spTree>
    <p:extLst>
      <p:ext uri="{BB962C8B-B14F-4D97-AF65-F5344CB8AC3E}">
        <p14:creationId xmlns:p14="http://schemas.microsoft.com/office/powerpoint/2010/main" val="2301493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27E0C4-AD4D-EB05-0F32-804A342D72B9}"/>
              </a:ext>
            </a:extLst>
          </p:cNvPr>
          <p:cNvSpPr>
            <a:spLocks noGrp="1"/>
          </p:cNvSpPr>
          <p:nvPr>
            <p:ph type="ctrTitle"/>
          </p:nvPr>
        </p:nvSpPr>
        <p:spPr>
          <a:xfrm>
            <a:off x="1314824" y="735106"/>
            <a:ext cx="10053763" cy="2928470"/>
          </a:xfrm>
        </p:spPr>
        <p:txBody>
          <a:bodyPr anchor="b">
            <a:normAutofit/>
          </a:bodyPr>
          <a:lstStyle/>
          <a:p>
            <a:pPr algn="l"/>
            <a:r>
              <a:rPr lang="hr-HR" sz="5400">
                <a:solidFill>
                  <a:srgbClr val="FFFFFF"/>
                </a:solidFill>
              </a:rPr>
              <a:t>Survival analysis of </a:t>
            </a:r>
            <a:r>
              <a:rPr lang="en-GB" sz="5400">
                <a:solidFill>
                  <a:srgbClr val="FFFFFF"/>
                </a:solidFill>
              </a:rPr>
              <a:t>ERBB2 and MYC </a:t>
            </a:r>
            <a:r>
              <a:rPr lang="hr-HR" sz="5400">
                <a:solidFill>
                  <a:srgbClr val="FFFFFF"/>
                </a:solidFill>
              </a:rPr>
              <a:t>CNVs </a:t>
            </a:r>
            <a:r>
              <a:rPr lang="en-GB" sz="5400">
                <a:solidFill>
                  <a:srgbClr val="FFFFFF"/>
                </a:solidFill>
              </a:rPr>
              <a:t>in breast cancer</a:t>
            </a:r>
          </a:p>
        </p:txBody>
      </p:sp>
      <p:sp>
        <p:nvSpPr>
          <p:cNvPr id="3" name="Subtitle 2">
            <a:extLst>
              <a:ext uri="{FF2B5EF4-FFF2-40B4-BE49-F238E27FC236}">
                <a16:creationId xmlns:a16="http://schemas.microsoft.com/office/drawing/2014/main" id="{B6BB4A8B-463D-5E02-3D3B-910457E80673}"/>
              </a:ext>
            </a:extLst>
          </p:cNvPr>
          <p:cNvSpPr>
            <a:spLocks noGrp="1"/>
          </p:cNvSpPr>
          <p:nvPr>
            <p:ph type="subTitle" idx="1"/>
          </p:nvPr>
        </p:nvSpPr>
        <p:spPr>
          <a:xfrm>
            <a:off x="999761" y="4870824"/>
            <a:ext cx="10366898" cy="1458258"/>
          </a:xfrm>
        </p:spPr>
        <p:txBody>
          <a:bodyPr anchor="ctr">
            <a:normAutofit/>
          </a:bodyPr>
          <a:lstStyle/>
          <a:p>
            <a:pPr algn="l"/>
            <a:r>
              <a:rPr lang="hr-HR"/>
              <a:t>Lucija &amp; Emily</a:t>
            </a:r>
          </a:p>
          <a:p>
            <a:pPr algn="l"/>
            <a:r>
              <a:rPr lang="en-GB"/>
              <a:t>BIO392, 30</a:t>
            </a:r>
            <a:r>
              <a:rPr lang="hr-HR"/>
              <a:t>.04.2026</a:t>
            </a:r>
            <a:endParaRPr lang="en-GB"/>
          </a:p>
        </p:txBody>
      </p:sp>
    </p:spTree>
    <p:extLst>
      <p:ext uri="{BB962C8B-B14F-4D97-AF65-F5344CB8AC3E}">
        <p14:creationId xmlns:p14="http://schemas.microsoft.com/office/powerpoint/2010/main" val="4073288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F1F43-BA7B-61DC-75D2-A574E9484B06}"/>
              </a:ext>
            </a:extLst>
          </p:cNvPr>
          <p:cNvSpPr>
            <a:spLocks noGrp="1"/>
          </p:cNvSpPr>
          <p:nvPr>
            <p:ph type="title"/>
          </p:nvPr>
        </p:nvSpPr>
        <p:spPr/>
        <p:txBody>
          <a:bodyPr/>
          <a:lstStyle/>
          <a:p>
            <a:r>
              <a:rPr lang="hr-HR" b="1"/>
              <a:t>Demographics – BRCA cohort</a:t>
            </a:r>
            <a:endParaRPr lang="en-GB" b="1"/>
          </a:p>
        </p:txBody>
      </p:sp>
      <p:pic>
        <p:nvPicPr>
          <p:cNvPr id="5" name="Content Placeholder 4">
            <a:extLst>
              <a:ext uri="{FF2B5EF4-FFF2-40B4-BE49-F238E27FC236}">
                <a16:creationId xmlns:a16="http://schemas.microsoft.com/office/drawing/2014/main" id="{074C3138-48A5-9625-245E-BF098CE3F19E}"/>
              </a:ext>
            </a:extLst>
          </p:cNvPr>
          <p:cNvPicPr>
            <a:picLocks noGrp="1" noChangeAspect="1"/>
          </p:cNvPicPr>
          <p:nvPr>
            <p:ph idx="1"/>
          </p:nvPr>
        </p:nvPicPr>
        <p:blipFill>
          <a:blip r:embed="rId4"/>
          <a:stretch>
            <a:fillRect/>
          </a:stretch>
        </p:blipFill>
        <p:spPr>
          <a:xfrm>
            <a:off x="659480" y="1713539"/>
            <a:ext cx="5438775" cy="4314825"/>
          </a:xfrm>
          <a:prstGeom prst="rect">
            <a:avLst/>
          </a:prstGeom>
        </p:spPr>
      </p:pic>
      <p:pic>
        <p:nvPicPr>
          <p:cNvPr id="4" name="Picture 3">
            <a:extLst>
              <a:ext uri="{FF2B5EF4-FFF2-40B4-BE49-F238E27FC236}">
                <a16:creationId xmlns:a16="http://schemas.microsoft.com/office/drawing/2014/main" id="{42610041-8D29-3CAB-39C6-B72C419C54F6}"/>
              </a:ext>
            </a:extLst>
          </p:cNvPr>
          <p:cNvPicPr>
            <a:picLocks noChangeAspect="1"/>
          </p:cNvPicPr>
          <p:nvPr/>
        </p:nvPicPr>
        <p:blipFill>
          <a:blip r:embed="rId5"/>
          <a:stretch>
            <a:fillRect/>
          </a:stretch>
        </p:blipFill>
        <p:spPr>
          <a:xfrm>
            <a:off x="6363653" y="1941853"/>
            <a:ext cx="5304942" cy="4428884"/>
          </a:xfrm>
          <a:prstGeom prst="rect">
            <a:avLst/>
          </a:prstGeom>
        </p:spPr>
      </p:pic>
    </p:spTree>
    <p:extLst>
      <p:ext uri="{BB962C8B-B14F-4D97-AF65-F5344CB8AC3E}">
        <p14:creationId xmlns:p14="http://schemas.microsoft.com/office/powerpoint/2010/main" val="101667947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BD3D-E8FF-247D-DE92-32DE2B1999F8}"/>
              </a:ext>
            </a:extLst>
          </p:cNvPr>
          <p:cNvSpPr>
            <a:spLocks noGrp="1"/>
          </p:cNvSpPr>
          <p:nvPr>
            <p:ph type="title"/>
          </p:nvPr>
        </p:nvSpPr>
        <p:spPr/>
        <p:txBody>
          <a:bodyPr/>
          <a:lstStyle/>
          <a:p>
            <a:r>
              <a:rPr lang="hr-HR" b="1"/>
              <a:t>Stage and overall survival – BRCA Cohort</a:t>
            </a:r>
            <a:endParaRPr lang="en-GB" b="1"/>
          </a:p>
        </p:txBody>
      </p:sp>
      <p:pic>
        <p:nvPicPr>
          <p:cNvPr id="5" name="Content Placeholder 4">
            <a:extLst>
              <a:ext uri="{FF2B5EF4-FFF2-40B4-BE49-F238E27FC236}">
                <a16:creationId xmlns:a16="http://schemas.microsoft.com/office/drawing/2014/main" id="{896BCAD4-FFA0-A496-6328-BC59E55F8017}"/>
              </a:ext>
            </a:extLst>
          </p:cNvPr>
          <p:cNvPicPr>
            <a:picLocks noGrp="1" noChangeAspect="1"/>
          </p:cNvPicPr>
          <p:nvPr>
            <p:ph idx="1"/>
          </p:nvPr>
        </p:nvPicPr>
        <p:blipFill>
          <a:blip r:embed="rId2"/>
          <a:stretch>
            <a:fillRect/>
          </a:stretch>
        </p:blipFill>
        <p:spPr>
          <a:xfrm>
            <a:off x="1084253" y="1695283"/>
            <a:ext cx="4549126" cy="4351338"/>
          </a:xfrm>
          <a:prstGeom prst="rect">
            <a:avLst/>
          </a:prstGeom>
        </p:spPr>
      </p:pic>
      <p:pic>
        <p:nvPicPr>
          <p:cNvPr id="3" name="Picture 2">
            <a:extLst>
              <a:ext uri="{FF2B5EF4-FFF2-40B4-BE49-F238E27FC236}">
                <a16:creationId xmlns:a16="http://schemas.microsoft.com/office/drawing/2014/main" id="{EAB5D102-83CC-7CC4-A0D1-C95F487FD2D9}"/>
              </a:ext>
            </a:extLst>
          </p:cNvPr>
          <p:cNvPicPr>
            <a:picLocks noChangeAspect="1"/>
          </p:cNvPicPr>
          <p:nvPr/>
        </p:nvPicPr>
        <p:blipFill>
          <a:blip r:embed="rId3"/>
          <a:stretch>
            <a:fillRect/>
          </a:stretch>
        </p:blipFill>
        <p:spPr>
          <a:xfrm>
            <a:off x="6442409" y="1693696"/>
            <a:ext cx="4564524" cy="4526545"/>
          </a:xfrm>
          <a:prstGeom prst="rect">
            <a:avLst/>
          </a:prstGeom>
        </p:spPr>
      </p:pic>
    </p:spTree>
    <p:extLst>
      <p:ext uri="{BB962C8B-B14F-4D97-AF65-F5344CB8AC3E}">
        <p14:creationId xmlns:p14="http://schemas.microsoft.com/office/powerpoint/2010/main" val="2905483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901440" cy="6858000"/>
          </a:xfrm>
          <a:prstGeom prst="rect">
            <a:avLst/>
          </a:prstGeom>
          <a:solidFill>
            <a:srgbClr val="0D1B4B"/>
          </a:solidFill>
          <a:ln w="12700">
            <a:solidFill>
              <a:srgbClr val="0D1B4B"/>
            </a:solidFill>
            <a:prstDash val="solid"/>
          </a:ln>
        </p:spPr>
        <p:txBody>
          <a:bodyPr/>
          <a:lstStyle/>
          <a:p>
            <a:endParaRPr lang="en-GB"/>
          </a:p>
        </p:txBody>
      </p:sp>
      <p:sp>
        <p:nvSpPr>
          <p:cNvPr id="3" name="Text 1"/>
          <p:cNvSpPr/>
          <p:nvPr/>
        </p:nvSpPr>
        <p:spPr>
          <a:xfrm>
            <a:off x="182880" y="609600"/>
            <a:ext cx="3535680" cy="1463040"/>
          </a:xfrm>
          <a:prstGeom prst="rect">
            <a:avLst/>
          </a:prstGeom>
          <a:noFill/>
          <a:ln/>
        </p:spPr>
        <p:txBody>
          <a:bodyPr wrap="square" rtlCol="0" anchor="ctr"/>
          <a:lstStyle/>
          <a:p>
            <a:pPr algn="ctr"/>
            <a:r>
              <a:rPr lang="en-US" sz="4267" b="1">
                <a:solidFill>
                  <a:srgbClr val="FFFFFF"/>
                </a:solidFill>
                <a:latin typeface="Calibri" pitchFamily="34" charset="0"/>
                <a:ea typeface="Calibri" pitchFamily="34" charset="-122"/>
                <a:cs typeface="Calibri" pitchFamily="34" charset="-120"/>
              </a:rPr>
              <a:t>ERBB2</a:t>
            </a:r>
            <a:endParaRPr lang="en-US" sz="4267"/>
          </a:p>
          <a:p>
            <a:pPr algn="ctr"/>
            <a:r>
              <a:rPr lang="en-US" sz="4267" b="1">
                <a:solidFill>
                  <a:srgbClr val="FFFFFF"/>
                </a:solidFill>
                <a:latin typeface="Calibri" pitchFamily="34" charset="0"/>
                <a:ea typeface="Calibri" pitchFamily="34" charset="-122"/>
                <a:cs typeface="Calibri" pitchFamily="34" charset="-120"/>
              </a:rPr>
              <a:t>(HER2)</a:t>
            </a:r>
            <a:endParaRPr lang="en-US" sz="4267"/>
          </a:p>
        </p:txBody>
      </p:sp>
      <p:sp>
        <p:nvSpPr>
          <p:cNvPr id="4" name="Text 2"/>
          <p:cNvSpPr/>
          <p:nvPr/>
        </p:nvSpPr>
        <p:spPr>
          <a:xfrm>
            <a:off x="182880" y="2011680"/>
            <a:ext cx="3535680" cy="487680"/>
          </a:xfrm>
          <a:prstGeom prst="rect">
            <a:avLst/>
          </a:prstGeom>
          <a:noFill/>
          <a:ln/>
        </p:spPr>
        <p:txBody>
          <a:bodyPr wrap="square" rtlCol="0" anchor="ctr"/>
          <a:lstStyle/>
          <a:p>
            <a:pPr algn="ctr"/>
            <a:r>
              <a:rPr lang="en-US" sz="1867">
                <a:solidFill>
                  <a:srgbClr val="00A896"/>
                </a:solidFill>
                <a:latin typeface="Calibri" pitchFamily="34" charset="0"/>
                <a:ea typeface="Calibri" pitchFamily="34" charset="-122"/>
                <a:cs typeface="Calibri" pitchFamily="34" charset="-120"/>
              </a:rPr>
              <a:t>Introduction</a:t>
            </a:r>
            <a:endParaRPr lang="en-US" sz="1867"/>
          </a:p>
        </p:txBody>
      </p:sp>
      <p:sp>
        <p:nvSpPr>
          <p:cNvPr id="5" name="Shape 3"/>
          <p:cNvSpPr/>
          <p:nvPr/>
        </p:nvSpPr>
        <p:spPr>
          <a:xfrm>
            <a:off x="609600" y="2621280"/>
            <a:ext cx="2682240" cy="60960"/>
          </a:xfrm>
          <a:prstGeom prst="rect">
            <a:avLst/>
          </a:prstGeom>
          <a:solidFill>
            <a:srgbClr val="00A896"/>
          </a:solidFill>
          <a:ln w="12700">
            <a:solidFill>
              <a:srgbClr val="00A896"/>
            </a:solidFill>
            <a:prstDash val="solid"/>
          </a:ln>
        </p:spPr>
        <p:txBody>
          <a:bodyPr/>
          <a:lstStyle/>
          <a:p>
            <a:endParaRPr lang="en-GB"/>
          </a:p>
        </p:txBody>
      </p:sp>
      <p:sp>
        <p:nvSpPr>
          <p:cNvPr id="6" name="Text 4"/>
          <p:cNvSpPr/>
          <p:nvPr/>
        </p:nvSpPr>
        <p:spPr>
          <a:xfrm>
            <a:off x="182880" y="2926080"/>
            <a:ext cx="3535680" cy="731520"/>
          </a:xfrm>
          <a:prstGeom prst="rect">
            <a:avLst/>
          </a:prstGeom>
          <a:noFill/>
          <a:ln/>
        </p:spPr>
        <p:txBody>
          <a:bodyPr wrap="square" rtlCol="0" anchor="ctr"/>
          <a:lstStyle/>
          <a:p>
            <a:pPr algn="ctr"/>
            <a:r>
              <a:rPr lang="en-US" sz="3733" b="1">
                <a:solidFill>
                  <a:srgbClr val="00A896"/>
                </a:solidFill>
                <a:latin typeface="Calibri" pitchFamily="34" charset="0"/>
                <a:ea typeface="Calibri" pitchFamily="34" charset="-122"/>
                <a:cs typeface="Calibri" pitchFamily="34" charset="-120"/>
              </a:rPr>
              <a:t>15–20%</a:t>
            </a:r>
            <a:endParaRPr lang="en-US" sz="3733"/>
          </a:p>
        </p:txBody>
      </p:sp>
      <p:sp>
        <p:nvSpPr>
          <p:cNvPr id="7" name="Text 5"/>
          <p:cNvSpPr/>
          <p:nvPr/>
        </p:nvSpPr>
        <p:spPr>
          <a:xfrm>
            <a:off x="182880" y="3596640"/>
            <a:ext cx="3535680" cy="792480"/>
          </a:xfrm>
          <a:prstGeom prst="rect">
            <a:avLst/>
          </a:prstGeom>
          <a:noFill/>
          <a:ln/>
        </p:spPr>
        <p:txBody>
          <a:bodyPr wrap="square" rtlCol="0" anchor="ctr"/>
          <a:lstStyle/>
          <a:p>
            <a:pPr algn="ctr"/>
            <a:r>
              <a:rPr lang="en-US" sz="1600">
                <a:solidFill>
                  <a:srgbClr val="A0B4C8"/>
                </a:solidFill>
                <a:latin typeface="Calibri" pitchFamily="34" charset="0"/>
                <a:ea typeface="Calibri" pitchFamily="34" charset="-122"/>
                <a:cs typeface="Calibri" pitchFamily="34" charset="-120"/>
              </a:rPr>
              <a:t>of breast cancers</a:t>
            </a:r>
            <a:endParaRPr lang="en-US" sz="1600"/>
          </a:p>
          <a:p>
            <a:pPr algn="ctr"/>
            <a:r>
              <a:rPr lang="en-US" sz="1600">
                <a:solidFill>
                  <a:srgbClr val="A0B4C8"/>
                </a:solidFill>
                <a:latin typeface="Calibri" pitchFamily="34" charset="0"/>
                <a:ea typeface="Calibri" pitchFamily="34" charset="-122"/>
                <a:cs typeface="Calibri" pitchFamily="34" charset="-120"/>
              </a:rPr>
              <a:t>are HER2-positive</a:t>
            </a:r>
            <a:endParaRPr lang="en-US" sz="1600"/>
          </a:p>
        </p:txBody>
      </p:sp>
      <p:sp>
        <p:nvSpPr>
          <p:cNvPr id="13" name="Text 11"/>
          <p:cNvSpPr/>
          <p:nvPr/>
        </p:nvSpPr>
        <p:spPr>
          <a:xfrm>
            <a:off x="4389120" y="1231392"/>
            <a:ext cx="6705600" cy="341376"/>
          </a:xfrm>
          <a:prstGeom prst="rect">
            <a:avLst/>
          </a:prstGeom>
          <a:noFill/>
          <a:ln/>
        </p:spPr>
        <p:txBody>
          <a:bodyPr wrap="square" lIns="0" tIns="0" rIns="0" bIns="0" rtlCol="0" anchor="ctr"/>
          <a:lstStyle/>
          <a:p>
            <a:r>
              <a:rPr lang="en-US" sz="2000" b="1">
                <a:solidFill>
                  <a:srgbClr val="1E293B"/>
                </a:solidFill>
                <a:latin typeface="Calibri" pitchFamily="34" charset="0"/>
                <a:ea typeface="Calibri" pitchFamily="34" charset="-122"/>
                <a:cs typeface="Calibri" pitchFamily="34" charset="-120"/>
              </a:rPr>
              <a:t>Receptor Tyrosine Kinase</a:t>
            </a:r>
            <a:endParaRPr lang="en-US" sz="2000"/>
          </a:p>
        </p:txBody>
      </p:sp>
      <p:sp>
        <p:nvSpPr>
          <p:cNvPr id="14" name="Text 12"/>
          <p:cNvSpPr/>
          <p:nvPr/>
        </p:nvSpPr>
        <p:spPr>
          <a:xfrm>
            <a:off x="4389120" y="1584960"/>
            <a:ext cx="6705600" cy="573024"/>
          </a:xfrm>
          <a:prstGeom prst="rect">
            <a:avLst/>
          </a:prstGeom>
          <a:noFill/>
          <a:ln/>
        </p:spPr>
        <p:txBody>
          <a:bodyPr wrap="square" lIns="0" tIns="0" rIns="0" bIns="0" rtlCol="0" anchor="ctr"/>
          <a:lstStyle/>
          <a:p>
            <a:r>
              <a:rPr lang="en-US">
                <a:latin typeface="Calibri" pitchFamily="34" charset="0"/>
                <a:ea typeface="Calibri" pitchFamily="34" charset="-122"/>
                <a:cs typeface="Calibri" pitchFamily="34" charset="-120"/>
              </a:rPr>
              <a:t>ERBB2 (HER2) is one of four membrane tyrosine kinase receptors in the ERBB family, regulating cell proliferation, survival, and differentiation.</a:t>
            </a:r>
            <a:endParaRPr lang="en-US"/>
          </a:p>
        </p:txBody>
      </p:sp>
      <p:sp>
        <p:nvSpPr>
          <p:cNvPr id="18" name="Text 16"/>
          <p:cNvSpPr/>
          <p:nvPr/>
        </p:nvSpPr>
        <p:spPr>
          <a:xfrm>
            <a:off x="4389120" y="3072384"/>
            <a:ext cx="6705600" cy="341376"/>
          </a:xfrm>
          <a:prstGeom prst="rect">
            <a:avLst/>
          </a:prstGeom>
          <a:noFill/>
          <a:ln/>
        </p:spPr>
        <p:txBody>
          <a:bodyPr wrap="square" lIns="0" tIns="0" rIns="0" bIns="0" rtlCol="0" anchor="ctr"/>
          <a:lstStyle/>
          <a:p>
            <a:r>
              <a:rPr lang="en-US" sz="2000" b="1">
                <a:solidFill>
                  <a:srgbClr val="1E293B"/>
                </a:solidFill>
                <a:latin typeface="Calibri" pitchFamily="34" charset="0"/>
                <a:ea typeface="Calibri" pitchFamily="34" charset="-122"/>
                <a:cs typeface="Calibri" pitchFamily="34" charset="-120"/>
              </a:rPr>
              <a:t>Prevalence in Breast Cancer</a:t>
            </a:r>
            <a:endParaRPr lang="en-US" sz="2000"/>
          </a:p>
        </p:txBody>
      </p:sp>
      <p:sp>
        <p:nvSpPr>
          <p:cNvPr id="19" name="Text 17"/>
          <p:cNvSpPr/>
          <p:nvPr/>
        </p:nvSpPr>
        <p:spPr>
          <a:xfrm>
            <a:off x="4389120" y="3425952"/>
            <a:ext cx="6705600" cy="573024"/>
          </a:xfrm>
          <a:prstGeom prst="rect">
            <a:avLst/>
          </a:prstGeom>
          <a:noFill/>
          <a:ln/>
        </p:spPr>
        <p:txBody>
          <a:bodyPr wrap="square" lIns="0" tIns="0" rIns="0" bIns="0" rtlCol="0" anchor="ctr"/>
          <a:lstStyle/>
          <a:p>
            <a:r>
              <a:rPr lang="en-US">
                <a:latin typeface="Calibri" pitchFamily="34" charset="0"/>
                <a:ea typeface="Calibri" pitchFamily="34" charset="-122"/>
                <a:cs typeface="Calibri" pitchFamily="34" charset="-120"/>
              </a:rPr>
              <a:t>ERBB2 amplification or overexpression occurs in 15–20% of breast </a:t>
            </a:r>
            <a:r>
              <a:rPr lang="en-US" err="1">
                <a:latin typeface="Calibri" pitchFamily="34" charset="0"/>
                <a:ea typeface="Calibri" pitchFamily="34" charset="-122"/>
                <a:cs typeface="Calibri" pitchFamily="34" charset="-120"/>
              </a:rPr>
              <a:t>tumours</a:t>
            </a:r>
            <a:r>
              <a:rPr lang="en-US">
                <a:latin typeface="Calibri" pitchFamily="34" charset="0"/>
                <a:ea typeface="Calibri" pitchFamily="34" charset="-122"/>
                <a:cs typeface="Calibri" pitchFamily="34" charset="-120"/>
              </a:rPr>
              <a:t>.</a:t>
            </a:r>
            <a:endParaRPr lang="en-US"/>
          </a:p>
        </p:txBody>
      </p:sp>
      <p:sp>
        <p:nvSpPr>
          <p:cNvPr id="23" name="Text 21"/>
          <p:cNvSpPr/>
          <p:nvPr/>
        </p:nvSpPr>
        <p:spPr>
          <a:xfrm>
            <a:off x="4389120" y="4840224"/>
            <a:ext cx="6705600" cy="341376"/>
          </a:xfrm>
          <a:prstGeom prst="rect">
            <a:avLst/>
          </a:prstGeom>
          <a:noFill/>
          <a:ln/>
        </p:spPr>
        <p:txBody>
          <a:bodyPr wrap="square" lIns="0" tIns="0" rIns="0" bIns="0" rtlCol="0" anchor="ctr"/>
          <a:lstStyle/>
          <a:p>
            <a:r>
              <a:rPr lang="en-US" sz="2000" b="1">
                <a:solidFill>
                  <a:srgbClr val="1E293B"/>
                </a:solidFill>
                <a:latin typeface="Calibri" pitchFamily="34" charset="0"/>
                <a:ea typeface="Calibri" pitchFamily="34" charset="-122"/>
                <a:cs typeface="Calibri" pitchFamily="34" charset="-120"/>
              </a:rPr>
              <a:t>Prognostic Significance</a:t>
            </a:r>
            <a:endParaRPr lang="en-US" sz="2000"/>
          </a:p>
        </p:txBody>
      </p:sp>
      <p:sp>
        <p:nvSpPr>
          <p:cNvPr id="24" name="Text 22"/>
          <p:cNvSpPr/>
          <p:nvPr/>
        </p:nvSpPr>
        <p:spPr>
          <a:xfrm>
            <a:off x="4389120" y="5193792"/>
            <a:ext cx="6705600" cy="573024"/>
          </a:xfrm>
          <a:prstGeom prst="rect">
            <a:avLst/>
          </a:prstGeom>
          <a:noFill/>
          <a:ln/>
        </p:spPr>
        <p:txBody>
          <a:bodyPr wrap="square" lIns="0" tIns="0" rIns="0" bIns="0" rtlCol="0" anchor="ctr"/>
          <a:lstStyle/>
          <a:p>
            <a:r>
              <a:rPr lang="en-US">
                <a:latin typeface="Calibri" pitchFamily="34" charset="0"/>
                <a:ea typeface="Calibri" pitchFamily="34" charset="-122"/>
                <a:cs typeface="Calibri" pitchFamily="34" charset="-120"/>
              </a:rPr>
              <a:t>ERBB2 amplification is a prognostic marker for aggressive tumours and a predictive marker for response to HER2-targeted therapies.</a:t>
            </a:r>
            <a:endParaRPr lang="en-US"/>
          </a:p>
        </p:txBody>
      </p:sp>
      <p:sp>
        <p:nvSpPr>
          <p:cNvPr id="8" name="TextBox 7">
            <a:extLst>
              <a:ext uri="{FF2B5EF4-FFF2-40B4-BE49-F238E27FC236}">
                <a16:creationId xmlns:a16="http://schemas.microsoft.com/office/drawing/2014/main" id="{CCA0536A-C342-1061-67AA-862FDA7B3AD4}"/>
              </a:ext>
            </a:extLst>
          </p:cNvPr>
          <p:cNvSpPr txBox="1"/>
          <p:nvPr/>
        </p:nvSpPr>
        <p:spPr>
          <a:xfrm>
            <a:off x="4394346" y="6272970"/>
            <a:ext cx="76607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1B1B1B"/>
                </a:solidFill>
                <a:highlight>
                  <a:srgbClr val="FFFFFF"/>
                </a:highlight>
                <a:ea typeface="+mn-lt"/>
                <a:cs typeface="+mn-lt"/>
              </a:rPr>
              <a:t>Drago, Joshua Z et al. “Beyond HER2: Targeting the </a:t>
            </a:r>
            <a:r>
              <a:rPr lang="en-US" sz="1200" dirty="0" err="1">
                <a:solidFill>
                  <a:srgbClr val="1B1B1B"/>
                </a:solidFill>
                <a:highlight>
                  <a:srgbClr val="FFFFFF"/>
                </a:highlight>
                <a:ea typeface="+mn-lt"/>
                <a:cs typeface="+mn-lt"/>
              </a:rPr>
              <a:t>ErbB</a:t>
            </a:r>
            <a:r>
              <a:rPr lang="en-US" sz="1200" dirty="0">
                <a:solidFill>
                  <a:srgbClr val="1B1B1B"/>
                </a:solidFill>
                <a:highlight>
                  <a:srgbClr val="FFFFFF"/>
                </a:highlight>
                <a:ea typeface="+mn-lt"/>
                <a:cs typeface="+mn-lt"/>
              </a:rPr>
              <a:t> receptor family in breast cancer.” </a:t>
            </a:r>
            <a:r>
              <a:rPr lang="en-US" sz="1200" i="1" dirty="0">
                <a:solidFill>
                  <a:srgbClr val="1B1B1B"/>
                </a:solidFill>
                <a:highlight>
                  <a:srgbClr val="FFFFFF"/>
                </a:highlight>
                <a:ea typeface="+mn-lt"/>
                <a:cs typeface="+mn-lt"/>
              </a:rPr>
              <a:t>Cancer treatment reviews</a:t>
            </a:r>
            <a:r>
              <a:rPr lang="en-US" sz="1200" dirty="0">
                <a:solidFill>
                  <a:srgbClr val="1B1B1B"/>
                </a:solidFill>
                <a:highlight>
                  <a:srgbClr val="FFFFFF"/>
                </a:highlight>
                <a:ea typeface="+mn-lt"/>
                <a:cs typeface="+mn-lt"/>
              </a:rPr>
              <a:t> vol. 109 (2022): 102436. doi:10.1016/j.ctrv.2022.102436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0B7A9-0745-B344-6E7C-71A007269598}"/>
              </a:ext>
            </a:extLst>
          </p:cNvPr>
          <p:cNvSpPr>
            <a:spLocks noGrp="1"/>
          </p:cNvSpPr>
          <p:nvPr>
            <p:ph type="title"/>
          </p:nvPr>
        </p:nvSpPr>
        <p:spPr/>
        <p:txBody>
          <a:bodyPr/>
          <a:lstStyle/>
          <a:p>
            <a:r>
              <a:rPr lang="hr-HR" b="1"/>
              <a:t>Dataset</a:t>
            </a:r>
            <a:endParaRPr lang="en-GB" b="1"/>
          </a:p>
        </p:txBody>
      </p:sp>
      <p:sp>
        <p:nvSpPr>
          <p:cNvPr id="3" name="Content Placeholder 2">
            <a:extLst>
              <a:ext uri="{FF2B5EF4-FFF2-40B4-BE49-F238E27FC236}">
                <a16:creationId xmlns:a16="http://schemas.microsoft.com/office/drawing/2014/main" id="{1D50D70F-4216-D20A-21DB-49302AE9C6D3}"/>
              </a:ext>
            </a:extLst>
          </p:cNvPr>
          <p:cNvSpPr>
            <a:spLocks noGrp="1"/>
          </p:cNvSpPr>
          <p:nvPr>
            <p:ph idx="1"/>
          </p:nvPr>
        </p:nvSpPr>
        <p:spPr/>
        <p:txBody>
          <a:bodyPr/>
          <a:lstStyle/>
          <a:p>
            <a:r>
              <a:rPr lang="hr-HR"/>
              <a:t>Total number of samples: </a:t>
            </a:r>
            <a:r>
              <a:rPr lang="en-US"/>
              <a:t>991</a:t>
            </a:r>
            <a:r>
              <a:rPr lang="hr-HR"/>
              <a:t> </a:t>
            </a:r>
          </a:p>
          <a:p>
            <a:r>
              <a:rPr lang="en-US"/>
              <a:t>ERBB2_hit</a:t>
            </a:r>
            <a:r>
              <a:rPr lang="hr-HR"/>
              <a:t>:</a:t>
            </a:r>
            <a:r>
              <a:rPr lang="en-US"/>
              <a:t>184</a:t>
            </a:r>
            <a:endParaRPr lang="hr-HR"/>
          </a:p>
          <a:p>
            <a:r>
              <a:rPr lang="en-US"/>
              <a:t>ERBB2_gain_hit</a:t>
            </a:r>
            <a:r>
              <a:rPr lang="hr-HR"/>
              <a:t>:</a:t>
            </a:r>
            <a:r>
              <a:rPr lang="en-US"/>
              <a:t>104 </a:t>
            </a:r>
            <a:endParaRPr lang="hr-HR"/>
          </a:p>
          <a:p>
            <a:r>
              <a:rPr lang="en-US"/>
              <a:t>ERBB2_loss_hit</a:t>
            </a:r>
            <a:r>
              <a:rPr lang="hr-HR"/>
              <a:t>: </a:t>
            </a:r>
            <a:r>
              <a:rPr lang="en-US"/>
              <a:t>79</a:t>
            </a:r>
            <a:endParaRPr lang="en-GB"/>
          </a:p>
        </p:txBody>
      </p:sp>
    </p:spTree>
    <p:extLst>
      <p:ext uri="{BB962C8B-B14F-4D97-AF65-F5344CB8AC3E}">
        <p14:creationId xmlns:p14="http://schemas.microsoft.com/office/powerpoint/2010/main" val="3222061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BCF31-637E-C41C-20CF-38CD5CFC0585}"/>
              </a:ext>
            </a:extLst>
          </p:cNvPr>
          <p:cNvSpPr>
            <a:spLocks noGrp="1"/>
          </p:cNvSpPr>
          <p:nvPr>
            <p:ph type="title"/>
          </p:nvPr>
        </p:nvSpPr>
        <p:spPr/>
        <p:txBody>
          <a:bodyPr/>
          <a:lstStyle/>
          <a:p>
            <a:r>
              <a:rPr lang="en-US" b="1"/>
              <a:t>Kaplan–Meier survival analysis</a:t>
            </a:r>
            <a:endParaRPr lang="en-US"/>
          </a:p>
        </p:txBody>
      </p:sp>
      <p:sp>
        <p:nvSpPr>
          <p:cNvPr id="3" name="Content Placeholder 2">
            <a:extLst>
              <a:ext uri="{FF2B5EF4-FFF2-40B4-BE49-F238E27FC236}">
                <a16:creationId xmlns:a16="http://schemas.microsoft.com/office/drawing/2014/main" id="{2E2F84F4-F6C3-8895-23B9-C41ADBA0CB01}"/>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72A37950-4DC5-7EDC-A996-4F7EC9A22A65}"/>
              </a:ext>
            </a:extLst>
          </p:cNvPr>
          <p:cNvPicPr>
            <a:picLocks noChangeAspect="1"/>
          </p:cNvPicPr>
          <p:nvPr/>
        </p:nvPicPr>
        <p:blipFill>
          <a:blip r:embed="rId2"/>
          <a:stretch>
            <a:fillRect/>
          </a:stretch>
        </p:blipFill>
        <p:spPr>
          <a:xfrm>
            <a:off x="3133725" y="1690688"/>
            <a:ext cx="5924550" cy="4457700"/>
          </a:xfrm>
          <a:prstGeom prst="rect">
            <a:avLst/>
          </a:prstGeom>
        </p:spPr>
      </p:pic>
    </p:spTree>
    <p:extLst>
      <p:ext uri="{BB962C8B-B14F-4D97-AF65-F5344CB8AC3E}">
        <p14:creationId xmlns:p14="http://schemas.microsoft.com/office/powerpoint/2010/main" val="3046636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47C29-AE08-5A61-DFD4-EE7087C3B10E}"/>
              </a:ext>
            </a:extLst>
          </p:cNvPr>
          <p:cNvSpPr>
            <a:spLocks noGrp="1"/>
          </p:cNvSpPr>
          <p:nvPr>
            <p:ph type="title"/>
          </p:nvPr>
        </p:nvSpPr>
        <p:spPr/>
        <p:txBody>
          <a:bodyPr/>
          <a:lstStyle/>
          <a:p>
            <a:r>
              <a:rPr lang="en-US" b="1"/>
              <a:t>Kaplan–Meier survival analysis</a:t>
            </a:r>
            <a:endParaRPr lang="en-GB"/>
          </a:p>
        </p:txBody>
      </p:sp>
      <p:pic>
        <p:nvPicPr>
          <p:cNvPr id="5" name="Content Placeholder 4">
            <a:extLst>
              <a:ext uri="{FF2B5EF4-FFF2-40B4-BE49-F238E27FC236}">
                <a16:creationId xmlns:a16="http://schemas.microsoft.com/office/drawing/2014/main" id="{1742DA54-111E-C683-1B10-16EE285E0421}"/>
              </a:ext>
            </a:extLst>
          </p:cNvPr>
          <p:cNvPicPr>
            <a:picLocks noGrp="1" noChangeAspect="1"/>
          </p:cNvPicPr>
          <p:nvPr>
            <p:ph idx="1"/>
          </p:nvPr>
        </p:nvPicPr>
        <p:blipFill>
          <a:blip r:embed="rId2"/>
          <a:stretch>
            <a:fillRect/>
          </a:stretch>
        </p:blipFill>
        <p:spPr>
          <a:xfrm>
            <a:off x="333965" y="1836641"/>
            <a:ext cx="5556031" cy="4180423"/>
          </a:xfrm>
          <a:prstGeom prst="rect">
            <a:avLst/>
          </a:prstGeom>
        </p:spPr>
      </p:pic>
      <p:pic>
        <p:nvPicPr>
          <p:cNvPr id="7" name="Picture 6">
            <a:extLst>
              <a:ext uri="{FF2B5EF4-FFF2-40B4-BE49-F238E27FC236}">
                <a16:creationId xmlns:a16="http://schemas.microsoft.com/office/drawing/2014/main" id="{97121A79-10DD-CB97-CD07-D8E4FE5BC164}"/>
              </a:ext>
            </a:extLst>
          </p:cNvPr>
          <p:cNvPicPr>
            <a:picLocks noChangeAspect="1"/>
          </p:cNvPicPr>
          <p:nvPr/>
        </p:nvPicPr>
        <p:blipFill>
          <a:blip r:embed="rId3"/>
          <a:stretch>
            <a:fillRect/>
          </a:stretch>
        </p:blipFill>
        <p:spPr>
          <a:xfrm>
            <a:off x="6417133" y="1836641"/>
            <a:ext cx="5556032" cy="4180423"/>
          </a:xfrm>
          <a:prstGeom prst="rect">
            <a:avLst/>
          </a:prstGeom>
        </p:spPr>
      </p:pic>
    </p:spTree>
    <p:extLst>
      <p:ext uri="{BB962C8B-B14F-4D97-AF65-F5344CB8AC3E}">
        <p14:creationId xmlns:p14="http://schemas.microsoft.com/office/powerpoint/2010/main" val="4083893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5FF0B4-5DF9-2F5D-4476-9174ED487D65}"/>
              </a:ext>
            </a:extLst>
          </p:cNvPr>
          <p:cNvSpPr>
            <a:spLocks noGrp="1"/>
          </p:cNvSpPr>
          <p:nvPr>
            <p:ph type="title"/>
          </p:nvPr>
        </p:nvSpPr>
        <p:spPr>
          <a:xfrm>
            <a:off x="1198181" y="560881"/>
            <a:ext cx="9795638" cy="1114380"/>
          </a:xfrm>
        </p:spPr>
        <p:txBody>
          <a:bodyPr vert="horz" lIns="91440" tIns="45720" rIns="91440" bIns="45720" rtlCol="0" anchor="b">
            <a:normAutofit fontScale="90000"/>
          </a:bodyPr>
          <a:lstStyle/>
          <a:p>
            <a:r>
              <a:rPr lang="en-US" sz="4900" b="1"/>
              <a:t>Cox proportional hazards model</a:t>
            </a:r>
            <a:br>
              <a:rPr lang="en-US" sz="2100"/>
            </a:br>
            <a:br>
              <a:rPr lang="en-US" sz="2100"/>
            </a:br>
            <a:endParaRPr lang="en-US" sz="2100"/>
          </a:p>
        </p:txBody>
      </p:sp>
      <p:sp>
        <p:nvSpPr>
          <p:cNvPr id="3" name="Content Placeholder 2">
            <a:extLst>
              <a:ext uri="{FF2B5EF4-FFF2-40B4-BE49-F238E27FC236}">
                <a16:creationId xmlns:a16="http://schemas.microsoft.com/office/drawing/2014/main" id="{95D71452-C245-D337-064F-A52AC6A4B51F}"/>
              </a:ext>
            </a:extLst>
          </p:cNvPr>
          <p:cNvSpPr>
            <a:spLocks noGrp="1"/>
          </p:cNvSpPr>
          <p:nvPr>
            <p:ph idx="1"/>
          </p:nvPr>
        </p:nvSpPr>
        <p:spPr>
          <a:xfrm>
            <a:off x="1025171" y="5769437"/>
            <a:ext cx="9795638" cy="943119"/>
          </a:xfrm>
        </p:spPr>
        <p:txBody>
          <a:bodyPr vert="horz" lIns="91440" tIns="45720" rIns="91440" bIns="45720" rtlCol="0">
            <a:normAutofit/>
          </a:bodyPr>
          <a:lstStyle/>
          <a:p>
            <a:pPr marL="0" indent="0" algn="ctr">
              <a:buNone/>
            </a:pPr>
            <a:r>
              <a:rPr lang="en-US" sz="2400"/>
              <a:t>Concordance index: 0.7049654280053375</a:t>
            </a:r>
          </a:p>
        </p:txBody>
      </p:sp>
      <p:pic>
        <p:nvPicPr>
          <p:cNvPr id="8" name="Picture 7">
            <a:extLst>
              <a:ext uri="{FF2B5EF4-FFF2-40B4-BE49-F238E27FC236}">
                <a16:creationId xmlns:a16="http://schemas.microsoft.com/office/drawing/2014/main" id="{7C855A4E-7041-4337-9300-A8828C0998F2}"/>
              </a:ext>
            </a:extLst>
          </p:cNvPr>
          <p:cNvPicPr>
            <a:picLocks noChangeAspect="1"/>
          </p:cNvPicPr>
          <p:nvPr/>
        </p:nvPicPr>
        <p:blipFill>
          <a:blip r:embed="rId3"/>
          <a:stretch>
            <a:fillRect/>
          </a:stretch>
        </p:blipFill>
        <p:spPr>
          <a:xfrm>
            <a:off x="93204" y="1911397"/>
            <a:ext cx="5828261" cy="3249254"/>
          </a:xfrm>
          <a:prstGeom prst="rect">
            <a:avLst/>
          </a:prstGeom>
        </p:spPr>
      </p:pic>
      <p:graphicFrame>
        <p:nvGraphicFramePr>
          <p:cNvPr id="6" name="Content Placeholder 3">
            <a:extLst>
              <a:ext uri="{FF2B5EF4-FFF2-40B4-BE49-F238E27FC236}">
                <a16:creationId xmlns:a16="http://schemas.microsoft.com/office/drawing/2014/main" id="{34203F34-EC33-4806-9C1C-C12F6B61811C}"/>
              </a:ext>
            </a:extLst>
          </p:cNvPr>
          <p:cNvGraphicFramePr>
            <a:graphicFrameLocks/>
          </p:cNvGraphicFramePr>
          <p:nvPr>
            <p:extLst>
              <p:ext uri="{D42A27DB-BD31-4B8C-83A1-F6EECF244321}">
                <p14:modId xmlns:p14="http://schemas.microsoft.com/office/powerpoint/2010/main" val="1917443585"/>
              </p:ext>
            </p:extLst>
          </p:nvPr>
        </p:nvGraphicFramePr>
        <p:xfrm>
          <a:off x="6094475" y="2319371"/>
          <a:ext cx="5828262" cy="2433310"/>
        </p:xfrm>
        <a:graphic>
          <a:graphicData uri="http://schemas.openxmlformats.org/drawingml/2006/table">
            <a:tbl>
              <a:tblPr firstRow="1" bandRow="1">
                <a:tableStyleId>{5C22544A-7EE6-4342-B048-85BDC9FD1C3A}</a:tableStyleId>
              </a:tblPr>
              <a:tblGrid>
                <a:gridCol w="2255110">
                  <a:extLst>
                    <a:ext uri="{9D8B030D-6E8A-4147-A177-3AD203B41FA5}">
                      <a16:colId xmlns:a16="http://schemas.microsoft.com/office/drawing/2014/main" val="1956507788"/>
                    </a:ext>
                  </a:extLst>
                </a:gridCol>
                <a:gridCol w="1686724">
                  <a:extLst>
                    <a:ext uri="{9D8B030D-6E8A-4147-A177-3AD203B41FA5}">
                      <a16:colId xmlns:a16="http://schemas.microsoft.com/office/drawing/2014/main" val="2816565812"/>
                    </a:ext>
                  </a:extLst>
                </a:gridCol>
                <a:gridCol w="1886428">
                  <a:extLst>
                    <a:ext uri="{9D8B030D-6E8A-4147-A177-3AD203B41FA5}">
                      <a16:colId xmlns:a16="http://schemas.microsoft.com/office/drawing/2014/main" val="2421504961"/>
                    </a:ext>
                  </a:extLst>
                </a:gridCol>
              </a:tblGrid>
              <a:tr h="486662">
                <a:tc>
                  <a:txBody>
                    <a:bodyPr/>
                    <a:lstStyle/>
                    <a:p>
                      <a:r>
                        <a:rPr lang="en-US" sz="2200"/>
                        <a:t>Feature</a:t>
                      </a:r>
                    </a:p>
                  </a:txBody>
                  <a:tcPr marL="110605" marR="110605" marT="55302" marB="55302"/>
                </a:tc>
                <a:tc>
                  <a:txBody>
                    <a:bodyPr/>
                    <a:lstStyle/>
                    <a:p>
                      <a:r>
                        <a:rPr lang="en-US" sz="2200"/>
                        <a:t>Coefficient</a:t>
                      </a:r>
                    </a:p>
                  </a:txBody>
                  <a:tcPr marL="110605" marR="110605" marT="55302" marB="55302"/>
                </a:tc>
                <a:tc>
                  <a:txBody>
                    <a:bodyPr/>
                    <a:lstStyle/>
                    <a:p>
                      <a:r>
                        <a:rPr lang="en-US" sz="2200"/>
                        <a:t>Hazard ratio</a:t>
                      </a:r>
                    </a:p>
                  </a:txBody>
                  <a:tcPr marL="110605" marR="110605" marT="55302" marB="55302"/>
                </a:tc>
                <a:extLst>
                  <a:ext uri="{0D108BD9-81ED-4DB2-BD59-A6C34878D82A}">
                    <a16:rowId xmlns:a16="http://schemas.microsoft.com/office/drawing/2014/main" val="2974916349"/>
                  </a:ext>
                </a:extLst>
              </a:tr>
              <a:tr h="486662">
                <a:tc>
                  <a:txBody>
                    <a:bodyPr/>
                    <a:lstStyle/>
                    <a:p>
                      <a:r>
                        <a:rPr lang="hr-HR" sz="2200"/>
                        <a:t>ERBB2</a:t>
                      </a:r>
                      <a:r>
                        <a:rPr lang="en-US" sz="2200"/>
                        <a:t> gain hit</a:t>
                      </a:r>
                    </a:p>
                  </a:txBody>
                  <a:tcPr marL="110605" marR="110605" marT="55302" marB="55302"/>
                </a:tc>
                <a:tc>
                  <a:txBody>
                    <a:bodyPr/>
                    <a:lstStyle/>
                    <a:p>
                      <a:pPr>
                        <a:buNone/>
                      </a:pPr>
                      <a:r>
                        <a:rPr lang="en-US" sz="2200">
                          <a:effectLst/>
                        </a:rPr>
                        <a:t>-0.911537</a:t>
                      </a:r>
                    </a:p>
                  </a:txBody>
                  <a:tcPr marL="61447" marR="61447" marT="30724" marB="30724" anchor="ctr"/>
                </a:tc>
                <a:tc>
                  <a:txBody>
                    <a:bodyPr/>
                    <a:lstStyle/>
                    <a:p>
                      <a:pPr>
                        <a:buNone/>
                      </a:pPr>
                      <a:r>
                        <a:rPr lang="en-US" sz="2200">
                          <a:effectLst/>
                        </a:rPr>
                        <a:t>0.401906</a:t>
                      </a:r>
                    </a:p>
                  </a:txBody>
                  <a:tcPr marL="61447" marR="61447" marT="30724" marB="30724" anchor="ctr"/>
                </a:tc>
                <a:extLst>
                  <a:ext uri="{0D108BD9-81ED-4DB2-BD59-A6C34878D82A}">
                    <a16:rowId xmlns:a16="http://schemas.microsoft.com/office/drawing/2014/main" val="765193292"/>
                  </a:ext>
                </a:extLst>
              </a:tr>
              <a:tr h="486662">
                <a:tc>
                  <a:txBody>
                    <a:bodyPr/>
                    <a:lstStyle/>
                    <a:p>
                      <a:r>
                        <a:rPr lang="hr-HR" sz="2200"/>
                        <a:t>ERBB2</a:t>
                      </a:r>
                      <a:r>
                        <a:rPr lang="en-US" sz="2200"/>
                        <a:t> loss hit</a:t>
                      </a:r>
                    </a:p>
                  </a:txBody>
                  <a:tcPr marL="110605" marR="110605" marT="55302" marB="55302"/>
                </a:tc>
                <a:tc>
                  <a:txBody>
                    <a:bodyPr/>
                    <a:lstStyle/>
                    <a:p>
                      <a:pPr>
                        <a:buNone/>
                      </a:pPr>
                      <a:r>
                        <a:rPr lang="en-US" sz="2200">
                          <a:effectLst/>
                        </a:rPr>
                        <a:t>0.572842</a:t>
                      </a:r>
                    </a:p>
                  </a:txBody>
                  <a:tcPr marL="61447" marR="61447" marT="30724" marB="30724" anchor="ctr"/>
                </a:tc>
                <a:tc>
                  <a:txBody>
                    <a:bodyPr/>
                    <a:lstStyle/>
                    <a:p>
                      <a:pPr>
                        <a:buNone/>
                      </a:pPr>
                      <a:r>
                        <a:rPr lang="en-US" sz="2200">
                          <a:effectLst/>
                        </a:rPr>
                        <a:t>1.773299</a:t>
                      </a:r>
                    </a:p>
                  </a:txBody>
                  <a:tcPr marL="61447" marR="61447" marT="30724" marB="30724" anchor="ctr"/>
                </a:tc>
                <a:extLst>
                  <a:ext uri="{0D108BD9-81ED-4DB2-BD59-A6C34878D82A}">
                    <a16:rowId xmlns:a16="http://schemas.microsoft.com/office/drawing/2014/main" val="2226048319"/>
                  </a:ext>
                </a:extLst>
              </a:tr>
              <a:tr h="486662">
                <a:tc>
                  <a:txBody>
                    <a:bodyPr/>
                    <a:lstStyle/>
                    <a:p>
                      <a:r>
                        <a:rPr lang="hr-HR" sz="2200"/>
                        <a:t>Sex</a:t>
                      </a:r>
                      <a:endParaRPr lang="en-US" sz="2200"/>
                    </a:p>
                  </a:txBody>
                  <a:tcPr marL="110605" marR="110605" marT="55302" marB="55302"/>
                </a:tc>
                <a:tc>
                  <a:txBody>
                    <a:bodyPr/>
                    <a:lstStyle/>
                    <a:p>
                      <a:pPr>
                        <a:buNone/>
                      </a:pPr>
                      <a:r>
                        <a:rPr lang="en-US" sz="2200">
                          <a:effectLst/>
                        </a:rPr>
                        <a:t>0.733760</a:t>
                      </a:r>
                    </a:p>
                  </a:txBody>
                  <a:tcPr marL="61447" marR="61447" marT="30724" marB="30724" anchor="ctr"/>
                </a:tc>
                <a:tc>
                  <a:txBody>
                    <a:bodyPr/>
                    <a:lstStyle/>
                    <a:p>
                      <a:pPr>
                        <a:buNone/>
                      </a:pPr>
                      <a:r>
                        <a:rPr lang="en-US" sz="2200">
                          <a:effectLst/>
                        </a:rPr>
                        <a:t>2.082898</a:t>
                      </a:r>
                    </a:p>
                  </a:txBody>
                  <a:tcPr marL="61447" marR="61447" marT="30724" marB="30724" anchor="ctr"/>
                </a:tc>
                <a:extLst>
                  <a:ext uri="{0D108BD9-81ED-4DB2-BD59-A6C34878D82A}">
                    <a16:rowId xmlns:a16="http://schemas.microsoft.com/office/drawing/2014/main" val="1090068803"/>
                  </a:ext>
                </a:extLst>
              </a:tr>
              <a:tr h="486662">
                <a:tc>
                  <a:txBody>
                    <a:bodyPr/>
                    <a:lstStyle/>
                    <a:p>
                      <a:r>
                        <a:rPr lang="hr-HR" sz="2200"/>
                        <a:t>Stage</a:t>
                      </a:r>
                      <a:endParaRPr lang="en-US" sz="2200"/>
                    </a:p>
                  </a:txBody>
                  <a:tcPr marL="110605" marR="110605" marT="55302" marB="55302"/>
                </a:tc>
                <a:tc>
                  <a:txBody>
                    <a:bodyPr/>
                    <a:lstStyle/>
                    <a:p>
                      <a:pPr>
                        <a:buNone/>
                      </a:pPr>
                      <a:r>
                        <a:rPr lang="en-US" sz="2200">
                          <a:effectLst/>
                        </a:rPr>
                        <a:t>1.112955</a:t>
                      </a:r>
                    </a:p>
                  </a:txBody>
                  <a:tcPr marL="61447" marR="61447" marT="30724" marB="30724" anchor="ctr"/>
                </a:tc>
                <a:tc>
                  <a:txBody>
                    <a:bodyPr/>
                    <a:lstStyle/>
                    <a:p>
                      <a:pPr>
                        <a:buNone/>
                      </a:pPr>
                      <a:r>
                        <a:rPr lang="en-US" sz="2200">
                          <a:effectLst/>
                        </a:rPr>
                        <a:t>3.043339</a:t>
                      </a:r>
                    </a:p>
                  </a:txBody>
                  <a:tcPr marL="61447" marR="61447" marT="30724" marB="30724" anchor="ctr"/>
                </a:tc>
                <a:extLst>
                  <a:ext uri="{0D108BD9-81ED-4DB2-BD59-A6C34878D82A}">
                    <a16:rowId xmlns:a16="http://schemas.microsoft.com/office/drawing/2014/main" val="3693379566"/>
                  </a:ext>
                </a:extLst>
              </a:tr>
            </a:tbl>
          </a:graphicData>
        </a:graphic>
      </p:graphicFrame>
    </p:spTree>
    <p:extLst>
      <p:ext uri="{BB962C8B-B14F-4D97-AF65-F5344CB8AC3E}">
        <p14:creationId xmlns:p14="http://schemas.microsoft.com/office/powerpoint/2010/main" val="162816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5166-36B9-B79F-01B2-107F9BE51D2B}"/>
              </a:ext>
            </a:extLst>
          </p:cNvPr>
          <p:cNvSpPr>
            <a:spLocks noGrp="1"/>
          </p:cNvSpPr>
          <p:nvPr>
            <p:ph type="title"/>
          </p:nvPr>
        </p:nvSpPr>
        <p:spPr/>
        <p:txBody>
          <a:bodyPr/>
          <a:lstStyle/>
          <a:p>
            <a:r>
              <a:rPr lang="hr-HR" b="1"/>
              <a:t>Conclusions</a:t>
            </a:r>
            <a:endParaRPr lang="en-GB" b="1"/>
          </a:p>
        </p:txBody>
      </p:sp>
      <p:sp>
        <p:nvSpPr>
          <p:cNvPr id="3" name="Content Placeholder 2">
            <a:extLst>
              <a:ext uri="{FF2B5EF4-FFF2-40B4-BE49-F238E27FC236}">
                <a16:creationId xmlns:a16="http://schemas.microsoft.com/office/drawing/2014/main" id="{49EC2EF6-1EE7-FEA4-DB05-5344947C9C00}"/>
              </a:ext>
            </a:extLst>
          </p:cNvPr>
          <p:cNvSpPr>
            <a:spLocks noGrp="1"/>
          </p:cNvSpPr>
          <p:nvPr>
            <p:ph idx="1"/>
          </p:nvPr>
        </p:nvSpPr>
        <p:spPr/>
        <p:txBody>
          <a:bodyPr/>
          <a:lstStyle/>
          <a:p>
            <a:r>
              <a:rPr lang="en-US" b="1"/>
              <a:t>Few </a:t>
            </a:r>
            <a:r>
              <a:rPr lang="hr-HR" b="1"/>
              <a:t>death </a:t>
            </a:r>
            <a:r>
              <a:rPr lang="en-US" b="1"/>
              <a:t>events in the altered groups</a:t>
            </a:r>
            <a:r>
              <a:rPr lang="hr-HR" b="1"/>
              <a:t>:</a:t>
            </a:r>
            <a:r>
              <a:rPr lang="en-US"/>
              <a:t> The flat KM curves for both gain and loss groups strongly suggest very few death events occurred in those patients during follow-up.</a:t>
            </a:r>
            <a:endParaRPr lang="hr-HR"/>
          </a:p>
          <a:p>
            <a:r>
              <a:rPr lang="en-US" b="1"/>
              <a:t>ERBB2 gain patients may be systematically treated differently</a:t>
            </a:r>
            <a:r>
              <a:rPr lang="en-US"/>
              <a:t> HER2+ patients (ERBB2 amplified) receive targeted therapy like trastuzumab (Herceptin), which dramatically improves survival. </a:t>
            </a:r>
            <a:endParaRPr lang="hr-HR"/>
          </a:p>
          <a:p>
            <a:r>
              <a:rPr lang="en-US" b="1"/>
              <a:t>CNV gain ≠ HER2 overexpression</a:t>
            </a:r>
            <a:r>
              <a:rPr lang="hr-HR" b="1"/>
              <a:t>: </a:t>
            </a:r>
            <a:r>
              <a:rPr lang="en-US"/>
              <a:t>ERBB2's clinical relevance comes from </a:t>
            </a:r>
            <a:r>
              <a:rPr lang="en-US" b="1"/>
              <a:t>protein overexpression</a:t>
            </a:r>
            <a:r>
              <a:rPr lang="en-US"/>
              <a:t>, not just copy number gain</a:t>
            </a:r>
            <a:endParaRPr lang="hr-HR"/>
          </a:p>
          <a:p>
            <a:endParaRPr lang="en-GB"/>
          </a:p>
        </p:txBody>
      </p:sp>
      <p:sp>
        <p:nvSpPr>
          <p:cNvPr id="4" name="TextBox 3">
            <a:extLst>
              <a:ext uri="{FF2B5EF4-FFF2-40B4-BE49-F238E27FC236}">
                <a16:creationId xmlns:a16="http://schemas.microsoft.com/office/drawing/2014/main" id="{D4D92D20-03FD-C7EE-BCB5-577FFA6F8E07}"/>
              </a:ext>
            </a:extLst>
          </p:cNvPr>
          <p:cNvSpPr txBox="1"/>
          <p:nvPr/>
        </p:nvSpPr>
        <p:spPr>
          <a:xfrm>
            <a:off x="838724" y="6169461"/>
            <a:ext cx="1071606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212121"/>
                </a:solidFill>
                <a:highlight>
                  <a:srgbClr val="FFFFFF"/>
                </a:highlight>
                <a:ea typeface="+mn-lt"/>
                <a:cs typeface="+mn-lt"/>
              </a:rPr>
              <a:t>Hansen, Thomas V O et al. “High-density SNP arrays improve detection of HER2 amplification and polyploidy in breast tumors.” </a:t>
            </a:r>
            <a:r>
              <a:rPr lang="en-US" sz="1200" i="1">
                <a:solidFill>
                  <a:srgbClr val="212121"/>
                </a:solidFill>
                <a:highlight>
                  <a:srgbClr val="FFFFFF"/>
                </a:highlight>
                <a:ea typeface="+mn-lt"/>
                <a:cs typeface="+mn-lt"/>
              </a:rPr>
              <a:t>BMC cancer</a:t>
            </a:r>
            <a:r>
              <a:rPr lang="en-US" sz="1200">
                <a:solidFill>
                  <a:srgbClr val="212121"/>
                </a:solidFill>
                <a:highlight>
                  <a:srgbClr val="FFFFFF"/>
                </a:highlight>
                <a:ea typeface="+mn-lt"/>
                <a:cs typeface="+mn-lt"/>
              </a:rPr>
              <a:t> vol. 15 35. 6 Feb. 2015, doi:10.1186/s12885-015-1035-1</a:t>
            </a:r>
            <a:endParaRPr lang="en-US"/>
          </a:p>
        </p:txBody>
      </p:sp>
    </p:spTree>
    <p:extLst>
      <p:ext uri="{BB962C8B-B14F-4D97-AF65-F5344CB8AC3E}">
        <p14:creationId xmlns:p14="http://schemas.microsoft.com/office/powerpoint/2010/main" val="303229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9E32-CF12-0E07-7AB4-061B4834C8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956B70-F8CE-6262-3EE5-72D5C240F29F}"/>
              </a:ext>
            </a:extLst>
          </p:cNvPr>
          <p:cNvSpPr/>
          <p:nvPr/>
        </p:nvSpPr>
        <p:spPr>
          <a:xfrm>
            <a:off x="0" y="0"/>
            <a:ext cx="3901440" cy="6858000"/>
          </a:xfrm>
          <a:prstGeom prst="rect">
            <a:avLst/>
          </a:prstGeom>
          <a:solidFill>
            <a:srgbClr val="0D1B4B"/>
          </a:solidFill>
          <a:ln w="12700">
            <a:solidFill>
              <a:srgbClr val="0D1B4B"/>
            </a:solidFill>
            <a:prstDash val="solid"/>
          </a:ln>
        </p:spPr>
        <p:txBody>
          <a:bodyPr/>
          <a:lstStyle/>
          <a:p>
            <a:endParaRPr lang="en-GB"/>
          </a:p>
        </p:txBody>
      </p:sp>
      <p:sp>
        <p:nvSpPr>
          <p:cNvPr id="3" name="Text 1">
            <a:extLst>
              <a:ext uri="{FF2B5EF4-FFF2-40B4-BE49-F238E27FC236}">
                <a16:creationId xmlns:a16="http://schemas.microsoft.com/office/drawing/2014/main" id="{56CAF924-BC39-2A4B-A116-120AFC07A07B}"/>
              </a:ext>
            </a:extLst>
          </p:cNvPr>
          <p:cNvSpPr/>
          <p:nvPr/>
        </p:nvSpPr>
        <p:spPr>
          <a:xfrm>
            <a:off x="182880" y="980574"/>
            <a:ext cx="3535680" cy="1463040"/>
          </a:xfrm>
          <a:prstGeom prst="rect">
            <a:avLst/>
          </a:prstGeom>
          <a:noFill/>
          <a:ln/>
        </p:spPr>
        <p:txBody>
          <a:bodyPr wrap="square" lIns="91440" tIns="45720" rIns="91440" bIns="45720" rtlCol="0" anchor="ctr"/>
          <a:lstStyle/>
          <a:p>
            <a:pPr algn="ctr"/>
            <a:r>
              <a:rPr lang="en-US" sz="4250" b="1">
                <a:solidFill>
                  <a:srgbClr val="FFFFFF"/>
                </a:solidFill>
                <a:latin typeface="Calibri"/>
                <a:ea typeface="Calibri"/>
                <a:cs typeface="Calibri"/>
              </a:rPr>
              <a:t>MYC</a:t>
            </a:r>
          </a:p>
        </p:txBody>
      </p:sp>
      <p:sp>
        <p:nvSpPr>
          <p:cNvPr id="5" name="Shape 3">
            <a:extLst>
              <a:ext uri="{FF2B5EF4-FFF2-40B4-BE49-F238E27FC236}">
                <a16:creationId xmlns:a16="http://schemas.microsoft.com/office/drawing/2014/main" id="{8F0F18AC-9A98-3DBD-2298-79056AC0A10B}"/>
              </a:ext>
            </a:extLst>
          </p:cNvPr>
          <p:cNvSpPr/>
          <p:nvPr/>
        </p:nvSpPr>
        <p:spPr>
          <a:xfrm>
            <a:off x="609600" y="2621280"/>
            <a:ext cx="2682240" cy="60960"/>
          </a:xfrm>
          <a:prstGeom prst="rect">
            <a:avLst/>
          </a:prstGeom>
          <a:solidFill>
            <a:srgbClr val="00A896"/>
          </a:solidFill>
          <a:ln w="12700">
            <a:solidFill>
              <a:srgbClr val="00A896"/>
            </a:solidFill>
            <a:prstDash val="solid"/>
          </a:ln>
        </p:spPr>
        <p:txBody>
          <a:bodyPr/>
          <a:lstStyle/>
          <a:p>
            <a:endParaRPr lang="en-GB"/>
          </a:p>
        </p:txBody>
      </p:sp>
      <p:sp>
        <p:nvSpPr>
          <p:cNvPr id="6" name="Text 4">
            <a:extLst>
              <a:ext uri="{FF2B5EF4-FFF2-40B4-BE49-F238E27FC236}">
                <a16:creationId xmlns:a16="http://schemas.microsoft.com/office/drawing/2014/main" id="{89DC0A46-BFC8-F473-DB20-EEF8807016BD}"/>
              </a:ext>
            </a:extLst>
          </p:cNvPr>
          <p:cNvSpPr/>
          <p:nvPr/>
        </p:nvSpPr>
        <p:spPr>
          <a:xfrm>
            <a:off x="182880" y="3166712"/>
            <a:ext cx="3535680" cy="731520"/>
          </a:xfrm>
          <a:prstGeom prst="rect">
            <a:avLst/>
          </a:prstGeom>
          <a:noFill/>
          <a:ln/>
        </p:spPr>
        <p:txBody>
          <a:bodyPr wrap="square" lIns="91440" tIns="45720" rIns="91440" bIns="45720" rtlCol="0" anchor="ctr"/>
          <a:lstStyle/>
          <a:p>
            <a:pPr algn="ctr"/>
            <a:endParaRPr lang="en-US" sz="3700" b="1">
              <a:solidFill>
                <a:srgbClr val="00A896"/>
              </a:solidFill>
              <a:latin typeface="Calibri"/>
              <a:ea typeface="Calibri"/>
              <a:cs typeface="Calibri"/>
            </a:endParaRPr>
          </a:p>
          <a:p>
            <a:pPr algn="ctr"/>
            <a:r>
              <a:rPr lang="en-US" sz="3700" b="1">
                <a:solidFill>
                  <a:srgbClr val="00A896"/>
                </a:solidFill>
                <a:latin typeface="Calibri"/>
                <a:ea typeface="Calibri"/>
                <a:cs typeface="Calibri"/>
              </a:rPr>
              <a:t>15–30%</a:t>
            </a:r>
            <a:endParaRPr lang="en-US"/>
          </a:p>
          <a:p>
            <a:pPr algn="ctr"/>
            <a:r>
              <a:rPr lang="en-US" sz="2000">
                <a:solidFill>
                  <a:schemeClr val="bg1"/>
                </a:solidFill>
                <a:latin typeface="Calibri"/>
                <a:ea typeface="Calibri"/>
                <a:cs typeface="Calibri"/>
              </a:rPr>
              <a:t>of breast cancers </a:t>
            </a:r>
            <a:br>
              <a:rPr lang="en-US" sz="2000">
                <a:latin typeface="Calibri"/>
                <a:ea typeface="Calibri"/>
                <a:cs typeface="Calibri"/>
              </a:rPr>
            </a:br>
            <a:r>
              <a:rPr lang="en-US" sz="2000">
                <a:solidFill>
                  <a:schemeClr val="bg1"/>
                </a:solidFill>
                <a:latin typeface="Calibri"/>
                <a:ea typeface="Calibri"/>
                <a:cs typeface="Calibri"/>
              </a:rPr>
              <a:t>overexpress MYC</a:t>
            </a:r>
          </a:p>
          <a:p>
            <a:pPr algn="ctr"/>
            <a:endParaRPr lang="en-US" sz="3700" b="1">
              <a:solidFill>
                <a:srgbClr val="00A896"/>
              </a:solidFill>
              <a:latin typeface="Calibri"/>
              <a:ea typeface="Calibri"/>
              <a:cs typeface="Calibri"/>
            </a:endParaRPr>
          </a:p>
        </p:txBody>
      </p:sp>
      <p:sp>
        <p:nvSpPr>
          <p:cNvPr id="7" name="Text 5">
            <a:extLst>
              <a:ext uri="{FF2B5EF4-FFF2-40B4-BE49-F238E27FC236}">
                <a16:creationId xmlns:a16="http://schemas.microsoft.com/office/drawing/2014/main" id="{71798BD4-0BF0-B756-CD76-31BBA4EB8D5F}"/>
              </a:ext>
            </a:extLst>
          </p:cNvPr>
          <p:cNvSpPr/>
          <p:nvPr/>
        </p:nvSpPr>
        <p:spPr>
          <a:xfrm>
            <a:off x="182880" y="2954956"/>
            <a:ext cx="3535680" cy="1384033"/>
          </a:xfrm>
          <a:prstGeom prst="rect">
            <a:avLst/>
          </a:prstGeom>
          <a:noFill/>
          <a:ln/>
        </p:spPr>
        <p:txBody>
          <a:bodyPr wrap="square" lIns="91440" tIns="45720" rIns="91440" bIns="45720" rtlCol="0" anchor="ctr"/>
          <a:lstStyle/>
          <a:p>
            <a:pPr algn="ctr"/>
            <a:endParaRPr lang="en-US" sz="1600">
              <a:solidFill>
                <a:srgbClr val="A0B4C8"/>
              </a:solidFill>
              <a:latin typeface="Calibri"/>
              <a:ea typeface="Calibri"/>
              <a:cs typeface="Calibri"/>
            </a:endParaRPr>
          </a:p>
        </p:txBody>
      </p:sp>
      <p:sp>
        <p:nvSpPr>
          <p:cNvPr id="13" name="Text 11">
            <a:extLst>
              <a:ext uri="{FF2B5EF4-FFF2-40B4-BE49-F238E27FC236}">
                <a16:creationId xmlns:a16="http://schemas.microsoft.com/office/drawing/2014/main" id="{F648886E-7CF4-D9D8-AB96-0F2B0861077A}"/>
              </a:ext>
            </a:extLst>
          </p:cNvPr>
          <p:cNvSpPr/>
          <p:nvPr/>
        </p:nvSpPr>
        <p:spPr>
          <a:xfrm>
            <a:off x="4439252" y="1291148"/>
            <a:ext cx="6705600" cy="341376"/>
          </a:xfrm>
          <a:prstGeom prst="rect">
            <a:avLst/>
          </a:prstGeom>
          <a:noFill/>
          <a:ln/>
        </p:spPr>
        <p:txBody>
          <a:bodyPr wrap="square" lIns="0" tIns="0" rIns="0" bIns="0" rtlCol="0" anchor="ctr"/>
          <a:lstStyle/>
          <a:p>
            <a:r>
              <a:rPr lang="en-US" sz="2000" b="1">
                <a:solidFill>
                  <a:srgbClr val="1E293B"/>
                </a:solidFill>
                <a:latin typeface="Calibri"/>
                <a:ea typeface="Calibri"/>
                <a:cs typeface="Calibri"/>
              </a:rPr>
              <a:t>Function</a:t>
            </a:r>
          </a:p>
        </p:txBody>
      </p:sp>
      <p:sp>
        <p:nvSpPr>
          <p:cNvPr id="14" name="Text 12">
            <a:extLst>
              <a:ext uri="{FF2B5EF4-FFF2-40B4-BE49-F238E27FC236}">
                <a16:creationId xmlns:a16="http://schemas.microsoft.com/office/drawing/2014/main" id="{2804B446-8C9C-1AF5-A12F-86186C9185CE}"/>
              </a:ext>
            </a:extLst>
          </p:cNvPr>
          <p:cNvSpPr/>
          <p:nvPr/>
        </p:nvSpPr>
        <p:spPr>
          <a:xfrm>
            <a:off x="4439252" y="1775059"/>
            <a:ext cx="6705600" cy="913918"/>
          </a:xfrm>
          <a:prstGeom prst="rect">
            <a:avLst/>
          </a:prstGeom>
          <a:noFill/>
          <a:ln/>
        </p:spPr>
        <p:txBody>
          <a:bodyPr wrap="square" lIns="0" tIns="0" rIns="0" bIns="0" rtlCol="0" anchor="ctr"/>
          <a:lstStyle/>
          <a:p>
            <a:r>
              <a:rPr lang="en-US" sz="2000">
                <a:latin typeface="Calibri"/>
                <a:ea typeface="Calibri"/>
                <a:cs typeface="Calibri"/>
              </a:rPr>
              <a:t>Downstream effector of ERBB2 signaling</a:t>
            </a:r>
          </a:p>
          <a:p>
            <a:r>
              <a:rPr lang="en-US" sz="2000">
                <a:latin typeface="Calibri"/>
                <a:ea typeface="Calibri"/>
                <a:cs typeface="Calibri"/>
              </a:rPr>
              <a:t>Transcription factor that controls cell cycle progression, cell growth, metabolism etc.</a:t>
            </a:r>
            <a:endParaRPr lang="en-US"/>
          </a:p>
          <a:p>
            <a:pPr marL="285750" indent="-285750">
              <a:buFont typeface="Wingdings"/>
              <a:buChar char="Ø"/>
            </a:pPr>
            <a:r>
              <a:rPr lang="en-US" sz="2000">
                <a:latin typeface="Calibri"/>
                <a:ea typeface="Calibri"/>
                <a:cs typeface="Calibri"/>
              </a:rPr>
              <a:t>Oncogene</a:t>
            </a:r>
          </a:p>
        </p:txBody>
      </p:sp>
      <p:sp>
        <p:nvSpPr>
          <p:cNvPr id="17" name="Text 15">
            <a:extLst>
              <a:ext uri="{FF2B5EF4-FFF2-40B4-BE49-F238E27FC236}">
                <a16:creationId xmlns:a16="http://schemas.microsoft.com/office/drawing/2014/main" id="{A1294D85-C593-1781-E1B3-861960A25F5C}"/>
              </a:ext>
            </a:extLst>
          </p:cNvPr>
          <p:cNvSpPr/>
          <p:nvPr/>
        </p:nvSpPr>
        <p:spPr>
          <a:xfrm>
            <a:off x="4256372" y="2676224"/>
            <a:ext cx="670560"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02</a:t>
            </a:r>
            <a:endParaRPr lang="en-US" sz="2000"/>
          </a:p>
        </p:txBody>
      </p:sp>
      <p:sp>
        <p:nvSpPr>
          <p:cNvPr id="18" name="Text 16">
            <a:extLst>
              <a:ext uri="{FF2B5EF4-FFF2-40B4-BE49-F238E27FC236}">
                <a16:creationId xmlns:a16="http://schemas.microsoft.com/office/drawing/2014/main" id="{FE6735EC-1058-772D-BA0B-324125F4CF32}"/>
              </a:ext>
            </a:extLst>
          </p:cNvPr>
          <p:cNvSpPr/>
          <p:nvPr/>
        </p:nvSpPr>
        <p:spPr>
          <a:xfrm>
            <a:off x="4439252" y="3173048"/>
            <a:ext cx="6705600" cy="341376"/>
          </a:xfrm>
          <a:prstGeom prst="rect">
            <a:avLst/>
          </a:prstGeom>
          <a:noFill/>
          <a:ln/>
        </p:spPr>
        <p:txBody>
          <a:bodyPr wrap="square" lIns="0" tIns="0" rIns="0" bIns="0" rtlCol="0" anchor="ctr"/>
          <a:lstStyle/>
          <a:p>
            <a:r>
              <a:rPr lang="en-US" sz="2000" b="1">
                <a:solidFill>
                  <a:srgbClr val="1E293B"/>
                </a:solidFill>
                <a:latin typeface="Calibri" pitchFamily="34" charset="0"/>
                <a:ea typeface="Calibri" pitchFamily="34" charset="-122"/>
                <a:cs typeface="Calibri" pitchFamily="34" charset="-120"/>
              </a:rPr>
              <a:t>Prevalence in Breast Cancer</a:t>
            </a:r>
            <a:endParaRPr lang="en-US" sz="2000"/>
          </a:p>
        </p:txBody>
      </p:sp>
      <p:sp>
        <p:nvSpPr>
          <p:cNvPr id="19" name="Text 17">
            <a:extLst>
              <a:ext uri="{FF2B5EF4-FFF2-40B4-BE49-F238E27FC236}">
                <a16:creationId xmlns:a16="http://schemas.microsoft.com/office/drawing/2014/main" id="{2694ACA7-554A-50FE-8D6B-BE414463BDDF}"/>
              </a:ext>
            </a:extLst>
          </p:cNvPr>
          <p:cNvSpPr/>
          <p:nvPr/>
        </p:nvSpPr>
        <p:spPr>
          <a:xfrm>
            <a:off x="4439252" y="3526616"/>
            <a:ext cx="6705600" cy="573024"/>
          </a:xfrm>
          <a:prstGeom prst="rect">
            <a:avLst/>
          </a:prstGeom>
          <a:noFill/>
          <a:ln/>
        </p:spPr>
        <p:txBody>
          <a:bodyPr wrap="square" lIns="0" tIns="0" rIns="0" bIns="0" rtlCol="0" anchor="ctr"/>
          <a:lstStyle/>
          <a:p>
            <a:r>
              <a:rPr lang="en-US" sz="2000">
                <a:latin typeface="Calibri"/>
                <a:ea typeface="Calibri"/>
                <a:cs typeface="Calibri"/>
              </a:rPr>
              <a:t>MYC overexpression occurs in 15–30% of breast tumors, amplification is even more common.</a:t>
            </a:r>
          </a:p>
        </p:txBody>
      </p:sp>
      <p:sp>
        <p:nvSpPr>
          <p:cNvPr id="23" name="Text 21">
            <a:extLst>
              <a:ext uri="{FF2B5EF4-FFF2-40B4-BE49-F238E27FC236}">
                <a16:creationId xmlns:a16="http://schemas.microsoft.com/office/drawing/2014/main" id="{3ADCD9D2-9014-E9FB-9E27-D1D2C185E4DC}"/>
              </a:ext>
            </a:extLst>
          </p:cNvPr>
          <p:cNvSpPr/>
          <p:nvPr/>
        </p:nvSpPr>
        <p:spPr>
          <a:xfrm>
            <a:off x="4439252" y="4572080"/>
            <a:ext cx="6705600" cy="341376"/>
          </a:xfrm>
          <a:prstGeom prst="rect">
            <a:avLst/>
          </a:prstGeom>
          <a:noFill/>
          <a:ln/>
        </p:spPr>
        <p:txBody>
          <a:bodyPr wrap="square" lIns="0" tIns="0" rIns="0" bIns="0" rtlCol="0" anchor="ctr"/>
          <a:lstStyle/>
          <a:p>
            <a:r>
              <a:rPr lang="en-US" sz="2000" b="1">
                <a:solidFill>
                  <a:srgbClr val="1E293B"/>
                </a:solidFill>
                <a:latin typeface="Calibri" pitchFamily="34" charset="0"/>
                <a:ea typeface="Calibri" pitchFamily="34" charset="-122"/>
                <a:cs typeface="Calibri" pitchFamily="34" charset="-120"/>
              </a:rPr>
              <a:t>Prognostic Significance</a:t>
            </a:r>
            <a:endParaRPr lang="en-US" sz="2000"/>
          </a:p>
        </p:txBody>
      </p:sp>
      <p:sp>
        <p:nvSpPr>
          <p:cNvPr id="24" name="Text 22">
            <a:extLst>
              <a:ext uri="{FF2B5EF4-FFF2-40B4-BE49-F238E27FC236}">
                <a16:creationId xmlns:a16="http://schemas.microsoft.com/office/drawing/2014/main" id="{93FBE6CA-460C-FEDD-B12E-3DF4125CF35A}"/>
              </a:ext>
            </a:extLst>
          </p:cNvPr>
          <p:cNvSpPr/>
          <p:nvPr/>
        </p:nvSpPr>
        <p:spPr>
          <a:xfrm>
            <a:off x="4439252" y="5106121"/>
            <a:ext cx="6705600" cy="573024"/>
          </a:xfrm>
          <a:prstGeom prst="rect">
            <a:avLst/>
          </a:prstGeom>
          <a:noFill/>
          <a:ln/>
        </p:spPr>
        <p:txBody>
          <a:bodyPr wrap="square" lIns="0" tIns="0" rIns="0" bIns="0" rtlCol="0" anchor="ctr"/>
          <a:lstStyle/>
          <a:p>
            <a:pPr>
              <a:lnSpc>
                <a:spcPct val="90000"/>
              </a:lnSpc>
              <a:spcBef>
                <a:spcPts val="1000"/>
              </a:spcBef>
            </a:pPr>
            <a:r>
              <a:rPr lang="en-US" sz="2000">
                <a:latin typeface="Aptos"/>
                <a:ea typeface="Calibri"/>
                <a:cs typeface="Calibri"/>
              </a:rPr>
              <a:t>High MYC is associated with aggressive disease and poor diagnosis.</a:t>
            </a:r>
            <a:endParaRPr lang="en-US" sz="2000"/>
          </a:p>
          <a:p>
            <a:endParaRPr lang="en-US" sz="2000">
              <a:latin typeface="Calibri"/>
              <a:ea typeface="Calibri"/>
              <a:cs typeface="Calibri"/>
            </a:endParaRPr>
          </a:p>
        </p:txBody>
      </p:sp>
      <p:sp>
        <p:nvSpPr>
          <p:cNvPr id="27" name="Text 25">
            <a:extLst>
              <a:ext uri="{FF2B5EF4-FFF2-40B4-BE49-F238E27FC236}">
                <a16:creationId xmlns:a16="http://schemas.microsoft.com/office/drawing/2014/main" id="{04878A82-E3A9-51FB-A256-968116FD1657}"/>
              </a:ext>
            </a:extLst>
          </p:cNvPr>
          <p:cNvSpPr/>
          <p:nvPr/>
        </p:nvSpPr>
        <p:spPr>
          <a:xfrm>
            <a:off x="4256372" y="4992704"/>
            <a:ext cx="670560"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04</a:t>
            </a:r>
            <a:endParaRPr lang="en-US" sz="2000"/>
          </a:p>
        </p:txBody>
      </p:sp>
      <p:sp>
        <p:nvSpPr>
          <p:cNvPr id="32" name="Text 30">
            <a:extLst>
              <a:ext uri="{FF2B5EF4-FFF2-40B4-BE49-F238E27FC236}">
                <a16:creationId xmlns:a16="http://schemas.microsoft.com/office/drawing/2014/main" id="{1ADA7DB2-537A-910D-599B-7D736E7095D5}"/>
              </a:ext>
            </a:extLst>
          </p:cNvPr>
          <p:cNvSpPr/>
          <p:nvPr/>
        </p:nvSpPr>
        <p:spPr>
          <a:xfrm>
            <a:off x="4256372" y="5900286"/>
            <a:ext cx="670560" cy="1060704"/>
          </a:xfrm>
          <a:prstGeom prst="rect">
            <a:avLst/>
          </a:prstGeom>
          <a:noFill/>
          <a:ln/>
        </p:spPr>
        <p:txBody>
          <a:bodyPr wrap="square" lIns="0" tIns="0" rIns="0" bIns="0" rtlCol="0" anchor="ctr"/>
          <a:lstStyle/>
          <a:p>
            <a:pPr algn="ctr"/>
            <a:r>
              <a:rPr lang="en-US" sz="2000" b="1">
                <a:solidFill>
                  <a:srgbClr val="FFFFFF"/>
                </a:solidFill>
                <a:latin typeface="Calibri" pitchFamily="34" charset="0"/>
                <a:ea typeface="Calibri" pitchFamily="34" charset="-122"/>
                <a:cs typeface="Calibri" pitchFamily="34" charset="-120"/>
              </a:rPr>
              <a:t>05</a:t>
            </a:r>
            <a:endParaRPr lang="en-US" sz="2000"/>
          </a:p>
        </p:txBody>
      </p:sp>
      <p:sp>
        <p:nvSpPr>
          <p:cNvPr id="4" name="TextBox 3">
            <a:extLst>
              <a:ext uri="{FF2B5EF4-FFF2-40B4-BE49-F238E27FC236}">
                <a16:creationId xmlns:a16="http://schemas.microsoft.com/office/drawing/2014/main" id="{9C978F92-3B25-9AAF-9CA8-3AA7BDF74558}"/>
              </a:ext>
            </a:extLst>
          </p:cNvPr>
          <p:cNvSpPr txBox="1"/>
          <p:nvPr/>
        </p:nvSpPr>
        <p:spPr>
          <a:xfrm>
            <a:off x="4256372" y="6430638"/>
            <a:ext cx="7905750" cy="307777"/>
          </a:xfrm>
          <a:prstGeom prst="rect">
            <a:avLst/>
          </a:prstGeom>
          <a:noFill/>
        </p:spPr>
        <p:txBody>
          <a:bodyPr wrap="square" rtlCol="0">
            <a:spAutoFit/>
          </a:bodyPr>
          <a:lstStyle/>
          <a:p>
            <a:r>
              <a:rPr lang="en-US" sz="1400" i="1"/>
              <a:t>Corey Lourenco et al., Nature 2021. MYC protein interactors in gene transcription and cancer</a:t>
            </a:r>
          </a:p>
        </p:txBody>
      </p:sp>
    </p:spTree>
    <p:extLst>
      <p:ext uri="{BB962C8B-B14F-4D97-AF65-F5344CB8AC3E}">
        <p14:creationId xmlns:p14="http://schemas.microsoft.com/office/powerpoint/2010/main" val="3112087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CA6E-276A-F4F7-FFCA-7DD3EBD2A982}"/>
              </a:ext>
            </a:extLst>
          </p:cNvPr>
          <p:cNvSpPr>
            <a:spLocks noGrp="1"/>
          </p:cNvSpPr>
          <p:nvPr>
            <p:ph type="title"/>
          </p:nvPr>
        </p:nvSpPr>
        <p:spPr/>
        <p:txBody>
          <a:bodyPr/>
          <a:lstStyle/>
          <a:p>
            <a:r>
              <a:rPr lang="en-US"/>
              <a:t>MYC dataset</a:t>
            </a:r>
          </a:p>
        </p:txBody>
      </p:sp>
      <p:sp>
        <p:nvSpPr>
          <p:cNvPr id="4" name="Content Placeholder 3">
            <a:extLst>
              <a:ext uri="{FF2B5EF4-FFF2-40B4-BE49-F238E27FC236}">
                <a16:creationId xmlns:a16="http://schemas.microsoft.com/office/drawing/2014/main" id="{E4045696-A2AD-E2F6-E53F-27A5251EC967}"/>
              </a:ext>
            </a:extLst>
          </p:cNvPr>
          <p:cNvSpPr txBox="1">
            <a:spLocks noGrp="1"/>
          </p:cNvSpPr>
          <p:nvPr>
            <p:ph idx="1"/>
          </p:nvPr>
        </p:nvSpPr>
        <p:spPr>
          <a:xfrm>
            <a:off x="838200" y="1825625"/>
            <a:ext cx="10515600" cy="20291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ea typeface="Consolas"/>
                <a:cs typeface="Consolas"/>
              </a:rPr>
              <a:t>Total number of samples: </a:t>
            </a:r>
            <a:r>
              <a:rPr lang="en-US">
                <a:ea typeface="Consolas"/>
                <a:cs typeface="Consolas"/>
              </a:rPr>
              <a:t>991</a:t>
            </a:r>
            <a:endParaRPr lang="en-US" b="0" i="0">
              <a:ea typeface="Consolas"/>
              <a:cs typeface="Consolas"/>
            </a:endParaRPr>
          </a:p>
          <a:p>
            <a:r>
              <a:rPr lang="en-US" b="0" i="0">
                <a:ea typeface="Consolas"/>
                <a:cs typeface="Consolas"/>
              </a:rPr>
              <a:t>MYC</a:t>
            </a:r>
            <a:r>
              <a:rPr lang="en-US">
                <a:ea typeface="Consolas"/>
                <a:cs typeface="Consolas"/>
              </a:rPr>
              <a:t> </a:t>
            </a:r>
            <a:r>
              <a:rPr lang="en-US" b="0" i="0">
                <a:ea typeface="Consolas"/>
                <a:cs typeface="Consolas"/>
              </a:rPr>
              <a:t>hits</a:t>
            </a:r>
            <a:r>
              <a:rPr lang="en-US">
                <a:ea typeface="Consolas"/>
                <a:cs typeface="Consolas"/>
              </a:rPr>
              <a:t>: 589</a:t>
            </a:r>
          </a:p>
          <a:p>
            <a:r>
              <a:rPr lang="en-US" b="0" i="0">
                <a:ea typeface="Consolas"/>
                <a:cs typeface="Consolas"/>
              </a:rPr>
              <a:t>MYC</a:t>
            </a:r>
            <a:r>
              <a:rPr lang="en-US">
                <a:ea typeface="Consolas"/>
                <a:cs typeface="Consolas"/>
              </a:rPr>
              <a:t> </a:t>
            </a:r>
            <a:r>
              <a:rPr lang="en-US" b="0" i="0">
                <a:ea typeface="Consolas"/>
                <a:cs typeface="Consolas"/>
              </a:rPr>
              <a:t>gains: 365</a:t>
            </a:r>
          </a:p>
          <a:p>
            <a:r>
              <a:rPr lang="en-US" b="0" i="0">
                <a:ea typeface="Consolas"/>
                <a:cs typeface="Consolas"/>
              </a:rPr>
              <a:t>MYC</a:t>
            </a:r>
            <a:r>
              <a:rPr lang="en-US">
                <a:ea typeface="Consolas"/>
                <a:cs typeface="Consolas"/>
              </a:rPr>
              <a:t> </a:t>
            </a:r>
            <a:r>
              <a:rPr lang="en-US" b="0" i="0">
                <a:ea typeface="Consolas"/>
                <a:cs typeface="Consolas"/>
              </a:rPr>
              <a:t>losses</a:t>
            </a:r>
            <a:r>
              <a:rPr lang="en-US">
                <a:ea typeface="Consolas"/>
                <a:cs typeface="Consolas"/>
              </a:rPr>
              <a:t>: </a:t>
            </a:r>
            <a:r>
              <a:rPr lang="en-US" b="0" i="0">
                <a:ea typeface="Consolas"/>
                <a:cs typeface="Consolas"/>
              </a:rPr>
              <a:t>489</a:t>
            </a:r>
            <a:endParaRPr lang="en-US"/>
          </a:p>
        </p:txBody>
      </p:sp>
    </p:spTree>
    <p:extLst>
      <p:ext uri="{BB962C8B-B14F-4D97-AF65-F5344CB8AC3E}">
        <p14:creationId xmlns:p14="http://schemas.microsoft.com/office/powerpoint/2010/main" val="1620835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F25D-B37E-3731-70E5-70EC9992F47B}"/>
              </a:ext>
            </a:extLst>
          </p:cNvPr>
          <p:cNvSpPr>
            <a:spLocks noGrp="1"/>
          </p:cNvSpPr>
          <p:nvPr>
            <p:ph type="title"/>
          </p:nvPr>
        </p:nvSpPr>
        <p:spPr>
          <a:xfrm>
            <a:off x="2233048" y="365125"/>
            <a:ext cx="7725906" cy="1338478"/>
          </a:xfrm>
        </p:spPr>
        <p:txBody>
          <a:bodyPr/>
          <a:lstStyle/>
          <a:p>
            <a:r>
              <a:rPr lang="en-US" b="1"/>
              <a:t>Kaplan-Meier survival Analysis</a:t>
            </a:r>
          </a:p>
        </p:txBody>
      </p:sp>
      <p:pic>
        <p:nvPicPr>
          <p:cNvPr id="4" name="Content Placeholder 3">
            <a:extLst>
              <a:ext uri="{FF2B5EF4-FFF2-40B4-BE49-F238E27FC236}">
                <a16:creationId xmlns:a16="http://schemas.microsoft.com/office/drawing/2014/main" id="{9FD9B9F0-4EE3-2E7B-9937-E354945F3576}"/>
              </a:ext>
            </a:extLst>
          </p:cNvPr>
          <p:cNvPicPr>
            <a:picLocks noGrp="1" noChangeAspect="1"/>
          </p:cNvPicPr>
          <p:nvPr>
            <p:ph idx="1"/>
          </p:nvPr>
        </p:nvPicPr>
        <p:blipFill>
          <a:blip r:embed="rId3"/>
          <a:stretch>
            <a:fillRect/>
          </a:stretch>
        </p:blipFill>
        <p:spPr>
          <a:xfrm>
            <a:off x="2806338" y="1709388"/>
            <a:ext cx="5675256" cy="4351338"/>
          </a:xfrm>
          <a:prstGeom prst="rect">
            <a:avLst/>
          </a:prstGeom>
        </p:spPr>
      </p:pic>
    </p:spTree>
    <p:extLst>
      <p:ext uri="{BB962C8B-B14F-4D97-AF65-F5344CB8AC3E}">
        <p14:creationId xmlns:p14="http://schemas.microsoft.com/office/powerpoint/2010/main" val="252564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A93A2-170B-643B-6D4B-276F13392AE5}"/>
              </a:ext>
            </a:extLst>
          </p:cNvPr>
          <p:cNvSpPr>
            <a:spLocks noGrp="1"/>
          </p:cNvSpPr>
          <p:nvPr>
            <p:ph type="title"/>
          </p:nvPr>
        </p:nvSpPr>
        <p:spPr>
          <a:xfrm>
            <a:off x="2323454" y="365125"/>
            <a:ext cx="7558007" cy="1338478"/>
          </a:xfrm>
        </p:spPr>
        <p:txBody>
          <a:bodyPr/>
          <a:lstStyle/>
          <a:p>
            <a:r>
              <a:rPr lang="en-US" b="1"/>
              <a:t>Kaplan-Meier survival Analysis</a:t>
            </a:r>
            <a:endParaRPr lang="en-US"/>
          </a:p>
        </p:txBody>
      </p:sp>
      <p:pic>
        <p:nvPicPr>
          <p:cNvPr id="4" name="Content Placeholder 3">
            <a:extLst>
              <a:ext uri="{FF2B5EF4-FFF2-40B4-BE49-F238E27FC236}">
                <a16:creationId xmlns:a16="http://schemas.microsoft.com/office/drawing/2014/main" id="{6E8E0398-FA6E-3CC1-9CBA-12F025AE14E5}"/>
              </a:ext>
            </a:extLst>
          </p:cNvPr>
          <p:cNvPicPr>
            <a:picLocks noGrp="1" noChangeAspect="1"/>
          </p:cNvPicPr>
          <p:nvPr>
            <p:ph idx="1"/>
          </p:nvPr>
        </p:nvPicPr>
        <p:blipFill>
          <a:blip r:embed="rId3"/>
          <a:stretch>
            <a:fillRect/>
          </a:stretch>
        </p:blipFill>
        <p:spPr>
          <a:xfrm>
            <a:off x="834254" y="1797670"/>
            <a:ext cx="5138647" cy="3886389"/>
          </a:xfrm>
          <a:prstGeom prst="rect">
            <a:avLst/>
          </a:prstGeom>
        </p:spPr>
      </p:pic>
      <p:pic>
        <p:nvPicPr>
          <p:cNvPr id="5" name="Picture 4">
            <a:extLst>
              <a:ext uri="{FF2B5EF4-FFF2-40B4-BE49-F238E27FC236}">
                <a16:creationId xmlns:a16="http://schemas.microsoft.com/office/drawing/2014/main" id="{5AC10B34-91D4-79CC-6D19-D76369933D80}"/>
              </a:ext>
            </a:extLst>
          </p:cNvPr>
          <p:cNvPicPr>
            <a:picLocks noChangeAspect="1"/>
          </p:cNvPicPr>
          <p:nvPr/>
        </p:nvPicPr>
        <p:blipFill>
          <a:blip r:embed="rId4"/>
          <a:stretch>
            <a:fillRect/>
          </a:stretch>
        </p:blipFill>
        <p:spPr>
          <a:xfrm>
            <a:off x="6250417" y="1797642"/>
            <a:ext cx="5115572" cy="3895564"/>
          </a:xfrm>
          <a:prstGeom prst="rect">
            <a:avLst/>
          </a:prstGeom>
        </p:spPr>
      </p:pic>
    </p:spTree>
    <p:extLst>
      <p:ext uri="{BB962C8B-B14F-4D97-AF65-F5344CB8AC3E}">
        <p14:creationId xmlns:p14="http://schemas.microsoft.com/office/powerpoint/2010/main" val="4249709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58AB-659F-5637-86B2-30362576B103}"/>
              </a:ext>
            </a:extLst>
          </p:cNvPr>
          <p:cNvSpPr>
            <a:spLocks noGrp="1"/>
          </p:cNvSpPr>
          <p:nvPr>
            <p:ph type="title"/>
          </p:nvPr>
        </p:nvSpPr>
        <p:spPr>
          <a:xfrm>
            <a:off x="974965" y="408077"/>
            <a:ext cx="7884544" cy="1325563"/>
          </a:xfrm>
        </p:spPr>
        <p:txBody>
          <a:bodyPr/>
          <a:lstStyle/>
          <a:p>
            <a:r>
              <a:rPr lang="en-US" b="1"/>
              <a:t>Cox proportional hazards model</a:t>
            </a:r>
          </a:p>
        </p:txBody>
      </p:sp>
      <p:graphicFrame>
        <p:nvGraphicFramePr>
          <p:cNvPr id="4" name="Content Placeholder 3">
            <a:extLst>
              <a:ext uri="{FF2B5EF4-FFF2-40B4-BE49-F238E27FC236}">
                <a16:creationId xmlns:a16="http://schemas.microsoft.com/office/drawing/2014/main" id="{049D9558-5E2D-13E6-E0EE-61D18F0DCEDB}"/>
              </a:ext>
            </a:extLst>
          </p:cNvPr>
          <p:cNvGraphicFramePr>
            <a:graphicFrameLocks noGrp="1"/>
          </p:cNvGraphicFramePr>
          <p:nvPr>
            <p:ph idx="1"/>
            <p:extLst>
              <p:ext uri="{D42A27DB-BD31-4B8C-83A1-F6EECF244321}">
                <p14:modId xmlns:p14="http://schemas.microsoft.com/office/powerpoint/2010/main" val="749234063"/>
              </p:ext>
            </p:extLst>
          </p:nvPr>
        </p:nvGraphicFramePr>
        <p:xfrm>
          <a:off x="657767" y="2152949"/>
          <a:ext cx="5790840" cy="2133600"/>
        </p:xfrm>
        <a:graphic>
          <a:graphicData uri="http://schemas.openxmlformats.org/drawingml/2006/table">
            <a:tbl>
              <a:tblPr firstRow="1" bandRow="1">
                <a:tableStyleId>{5C22544A-7EE6-4342-B048-85BDC9FD1C3A}</a:tableStyleId>
              </a:tblPr>
              <a:tblGrid>
                <a:gridCol w="1930160">
                  <a:extLst>
                    <a:ext uri="{9D8B030D-6E8A-4147-A177-3AD203B41FA5}">
                      <a16:colId xmlns:a16="http://schemas.microsoft.com/office/drawing/2014/main" val="1956507788"/>
                    </a:ext>
                  </a:extLst>
                </a:gridCol>
                <a:gridCol w="2009775">
                  <a:extLst>
                    <a:ext uri="{9D8B030D-6E8A-4147-A177-3AD203B41FA5}">
                      <a16:colId xmlns:a16="http://schemas.microsoft.com/office/drawing/2014/main" val="2816565812"/>
                    </a:ext>
                  </a:extLst>
                </a:gridCol>
                <a:gridCol w="1850905">
                  <a:extLst>
                    <a:ext uri="{9D8B030D-6E8A-4147-A177-3AD203B41FA5}">
                      <a16:colId xmlns:a16="http://schemas.microsoft.com/office/drawing/2014/main" val="2421504961"/>
                    </a:ext>
                  </a:extLst>
                </a:gridCol>
              </a:tblGrid>
              <a:tr h="370840">
                <a:tc>
                  <a:txBody>
                    <a:bodyPr/>
                    <a:lstStyle/>
                    <a:p>
                      <a:r>
                        <a:rPr lang="en-US" sz="2200"/>
                        <a:t>Feature</a:t>
                      </a:r>
                    </a:p>
                  </a:txBody>
                  <a:tcPr/>
                </a:tc>
                <a:tc>
                  <a:txBody>
                    <a:bodyPr/>
                    <a:lstStyle/>
                    <a:p>
                      <a:r>
                        <a:rPr lang="en-US" sz="2200"/>
                        <a:t>Coefficient</a:t>
                      </a:r>
                    </a:p>
                  </a:txBody>
                  <a:tcPr/>
                </a:tc>
                <a:tc>
                  <a:txBody>
                    <a:bodyPr/>
                    <a:lstStyle/>
                    <a:p>
                      <a:r>
                        <a:rPr lang="en-US" sz="2200"/>
                        <a:t>Hazard ratio</a:t>
                      </a:r>
                    </a:p>
                  </a:txBody>
                  <a:tcPr/>
                </a:tc>
                <a:extLst>
                  <a:ext uri="{0D108BD9-81ED-4DB2-BD59-A6C34878D82A}">
                    <a16:rowId xmlns:a16="http://schemas.microsoft.com/office/drawing/2014/main" val="2974916349"/>
                  </a:ext>
                </a:extLst>
              </a:tr>
              <a:tr h="370840">
                <a:tc>
                  <a:txBody>
                    <a:bodyPr/>
                    <a:lstStyle/>
                    <a:p>
                      <a:r>
                        <a:rPr lang="en-US" sz="2200"/>
                        <a:t>MYC gain hit</a:t>
                      </a:r>
                    </a:p>
                  </a:txBody>
                  <a:tcPr/>
                </a:tc>
                <a:tc>
                  <a:txBody>
                    <a:bodyPr/>
                    <a:lstStyle/>
                    <a:p>
                      <a:r>
                        <a:rPr lang="en-US" sz="2200"/>
                        <a:t>0.44</a:t>
                      </a:r>
                    </a:p>
                  </a:txBody>
                  <a:tcPr/>
                </a:tc>
                <a:tc>
                  <a:txBody>
                    <a:bodyPr/>
                    <a:lstStyle/>
                    <a:p>
                      <a:r>
                        <a:rPr lang="en-US" sz="2200"/>
                        <a:t>1.56</a:t>
                      </a:r>
                    </a:p>
                  </a:txBody>
                  <a:tcPr/>
                </a:tc>
                <a:extLst>
                  <a:ext uri="{0D108BD9-81ED-4DB2-BD59-A6C34878D82A}">
                    <a16:rowId xmlns:a16="http://schemas.microsoft.com/office/drawing/2014/main" val="765193292"/>
                  </a:ext>
                </a:extLst>
              </a:tr>
              <a:tr h="370840">
                <a:tc>
                  <a:txBody>
                    <a:bodyPr/>
                    <a:lstStyle/>
                    <a:p>
                      <a:r>
                        <a:rPr lang="en-US" sz="2200"/>
                        <a:t>MYC loss hit</a:t>
                      </a:r>
                    </a:p>
                  </a:txBody>
                  <a:tcPr/>
                </a:tc>
                <a:tc>
                  <a:txBody>
                    <a:bodyPr/>
                    <a:lstStyle/>
                    <a:p>
                      <a:r>
                        <a:rPr lang="en-US" sz="2200"/>
                        <a:t>0.0016</a:t>
                      </a:r>
                    </a:p>
                  </a:txBody>
                  <a:tcPr/>
                </a:tc>
                <a:tc>
                  <a:txBody>
                    <a:bodyPr/>
                    <a:lstStyle/>
                    <a:p>
                      <a:r>
                        <a:rPr lang="en-US" sz="2200"/>
                        <a:t>1.01</a:t>
                      </a:r>
                    </a:p>
                  </a:txBody>
                  <a:tcPr/>
                </a:tc>
                <a:extLst>
                  <a:ext uri="{0D108BD9-81ED-4DB2-BD59-A6C34878D82A}">
                    <a16:rowId xmlns:a16="http://schemas.microsoft.com/office/drawing/2014/main" val="2226048319"/>
                  </a:ext>
                </a:extLst>
              </a:tr>
              <a:tr h="370840">
                <a:tc>
                  <a:txBody>
                    <a:bodyPr/>
                    <a:lstStyle/>
                    <a:p>
                      <a:r>
                        <a:rPr lang="en-US" sz="2200"/>
                        <a:t>Sex</a:t>
                      </a:r>
                    </a:p>
                  </a:txBody>
                  <a:tcPr/>
                </a:tc>
                <a:tc>
                  <a:txBody>
                    <a:bodyPr/>
                    <a:lstStyle/>
                    <a:p>
                      <a:r>
                        <a:rPr lang="en-US" sz="2200"/>
                        <a:t>0.36</a:t>
                      </a:r>
                    </a:p>
                  </a:txBody>
                  <a:tcPr/>
                </a:tc>
                <a:tc>
                  <a:txBody>
                    <a:bodyPr/>
                    <a:lstStyle/>
                    <a:p>
                      <a:r>
                        <a:rPr lang="en-US" sz="2200"/>
                        <a:t>1.43</a:t>
                      </a:r>
                    </a:p>
                  </a:txBody>
                  <a:tcPr/>
                </a:tc>
                <a:extLst>
                  <a:ext uri="{0D108BD9-81ED-4DB2-BD59-A6C34878D82A}">
                    <a16:rowId xmlns:a16="http://schemas.microsoft.com/office/drawing/2014/main" val="1090068803"/>
                  </a:ext>
                </a:extLst>
              </a:tr>
              <a:tr h="370839">
                <a:tc>
                  <a:txBody>
                    <a:bodyPr/>
                    <a:lstStyle/>
                    <a:p>
                      <a:pPr lvl="0">
                        <a:buNone/>
                      </a:pPr>
                      <a:r>
                        <a:rPr lang="en-US" sz="2200"/>
                        <a:t>Stage</a:t>
                      </a:r>
                    </a:p>
                  </a:txBody>
                  <a:tcPr/>
                </a:tc>
                <a:tc>
                  <a:txBody>
                    <a:bodyPr/>
                    <a:lstStyle/>
                    <a:p>
                      <a:pPr lvl="0">
                        <a:buNone/>
                      </a:pPr>
                      <a:r>
                        <a:rPr lang="en-US" sz="2200"/>
                        <a:t>1.11</a:t>
                      </a:r>
                    </a:p>
                  </a:txBody>
                  <a:tcPr/>
                </a:tc>
                <a:tc>
                  <a:txBody>
                    <a:bodyPr/>
                    <a:lstStyle/>
                    <a:p>
                      <a:pPr lvl="0">
                        <a:buNone/>
                      </a:pPr>
                      <a:r>
                        <a:rPr lang="en-US" sz="2200"/>
                        <a:t>3.03</a:t>
                      </a:r>
                    </a:p>
                  </a:txBody>
                  <a:tcPr/>
                </a:tc>
                <a:extLst>
                  <a:ext uri="{0D108BD9-81ED-4DB2-BD59-A6C34878D82A}">
                    <a16:rowId xmlns:a16="http://schemas.microsoft.com/office/drawing/2014/main" val="652213758"/>
                  </a:ext>
                </a:extLst>
              </a:tr>
            </a:tbl>
          </a:graphicData>
        </a:graphic>
      </p:graphicFrame>
      <p:sp>
        <p:nvSpPr>
          <p:cNvPr id="5" name="TextBox 4">
            <a:extLst>
              <a:ext uri="{FF2B5EF4-FFF2-40B4-BE49-F238E27FC236}">
                <a16:creationId xmlns:a16="http://schemas.microsoft.com/office/drawing/2014/main" id="{7F9BC125-E72E-00C2-2A2E-3C028BF6845A}"/>
              </a:ext>
            </a:extLst>
          </p:cNvPr>
          <p:cNvSpPr txBox="1"/>
          <p:nvPr/>
        </p:nvSpPr>
        <p:spPr>
          <a:xfrm>
            <a:off x="4079934" y="5585154"/>
            <a:ext cx="43782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ptos"/>
              </a:rPr>
              <a:t>Concordance ratio: </a:t>
            </a:r>
            <a:r>
              <a:rPr lang="en-US" sz="2800"/>
              <a:t>0.695</a:t>
            </a:r>
            <a:endParaRPr lang="en-US" sz="2800">
              <a:latin typeface="Aptos"/>
            </a:endParaRPr>
          </a:p>
        </p:txBody>
      </p:sp>
      <p:pic>
        <p:nvPicPr>
          <p:cNvPr id="8" name="Picture 7">
            <a:extLst>
              <a:ext uri="{FF2B5EF4-FFF2-40B4-BE49-F238E27FC236}">
                <a16:creationId xmlns:a16="http://schemas.microsoft.com/office/drawing/2014/main" id="{70DADC09-7761-D6E0-78A2-366838D676A6}"/>
              </a:ext>
            </a:extLst>
          </p:cNvPr>
          <p:cNvPicPr>
            <a:picLocks noChangeAspect="1"/>
          </p:cNvPicPr>
          <p:nvPr/>
        </p:nvPicPr>
        <p:blipFill>
          <a:blip r:embed="rId3"/>
          <a:stretch>
            <a:fillRect/>
          </a:stretch>
        </p:blipFill>
        <p:spPr>
          <a:xfrm>
            <a:off x="6559668" y="1589102"/>
            <a:ext cx="5472534" cy="3099000"/>
          </a:xfrm>
          <a:prstGeom prst="rect">
            <a:avLst/>
          </a:prstGeom>
        </p:spPr>
      </p:pic>
    </p:spTree>
    <p:extLst>
      <p:ext uri="{BB962C8B-B14F-4D97-AF65-F5344CB8AC3E}">
        <p14:creationId xmlns:p14="http://schemas.microsoft.com/office/powerpoint/2010/main" val="3022259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BF3E6-5FC3-A68F-29CC-7EECD46ABBF6}"/>
              </a:ext>
            </a:extLst>
          </p:cNvPr>
          <p:cNvSpPr>
            <a:spLocks noGrp="1"/>
          </p:cNvSpPr>
          <p:nvPr>
            <p:ph type="title"/>
          </p:nvPr>
        </p:nvSpPr>
        <p:spPr/>
        <p:txBody>
          <a:bodyPr/>
          <a:lstStyle/>
          <a:p>
            <a:r>
              <a:rPr lang="en-US" b="1"/>
              <a:t>Conclusion - MYC</a:t>
            </a:r>
          </a:p>
        </p:txBody>
      </p:sp>
      <p:sp>
        <p:nvSpPr>
          <p:cNvPr id="3" name="Content Placeholder 2">
            <a:extLst>
              <a:ext uri="{FF2B5EF4-FFF2-40B4-BE49-F238E27FC236}">
                <a16:creationId xmlns:a16="http://schemas.microsoft.com/office/drawing/2014/main" id="{02E59D49-1BE4-DBB7-5C07-2ACFABF6FAA8}"/>
              </a:ext>
            </a:extLst>
          </p:cNvPr>
          <p:cNvSpPr>
            <a:spLocks noGrp="1"/>
          </p:cNvSpPr>
          <p:nvPr>
            <p:ph idx="1"/>
          </p:nvPr>
        </p:nvSpPr>
        <p:spPr>
          <a:xfrm>
            <a:off x="838200" y="1715336"/>
            <a:ext cx="10515600" cy="4351338"/>
          </a:xfrm>
        </p:spPr>
        <p:txBody>
          <a:bodyPr vert="horz" lIns="91440" tIns="45720" rIns="91440" bIns="45720" rtlCol="0" anchor="t">
            <a:normAutofit/>
          </a:bodyPr>
          <a:lstStyle/>
          <a:p>
            <a:r>
              <a:rPr lang="en-US"/>
              <a:t>Stage was an important confounding variable</a:t>
            </a:r>
          </a:p>
          <a:p>
            <a:r>
              <a:rPr lang="en-US"/>
              <a:t>Running a survival analysis that takes stage (and other possible confounding variables) into account would likely yield more conclusive results</a:t>
            </a:r>
          </a:p>
          <a:p>
            <a:pPr lvl="1">
              <a:buFont typeface="Wingdings" panose="020B0604020202020204" pitchFamily="34" charset="0"/>
              <a:buChar char="Ø"/>
            </a:pPr>
            <a:r>
              <a:rPr lang="en-US"/>
              <a:t>Should be done in the next step</a:t>
            </a:r>
          </a:p>
          <a:p>
            <a:pPr marL="0" indent="0">
              <a:buNone/>
            </a:pPr>
            <a:endParaRPr lang="en-US"/>
          </a:p>
          <a:p>
            <a:endParaRPr lang="en-US"/>
          </a:p>
          <a:p>
            <a:endParaRPr lang="en-US"/>
          </a:p>
          <a:p>
            <a:endParaRPr lang="en-US"/>
          </a:p>
        </p:txBody>
      </p:sp>
    </p:spTree>
    <p:extLst>
      <p:ext uri="{BB962C8B-B14F-4D97-AF65-F5344CB8AC3E}">
        <p14:creationId xmlns:p14="http://schemas.microsoft.com/office/powerpoint/2010/main" val="3870049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2B63-F379-3775-6710-5F33C97B3874}"/>
              </a:ext>
            </a:extLst>
          </p:cNvPr>
          <p:cNvSpPr>
            <a:spLocks noGrp="1"/>
          </p:cNvSpPr>
          <p:nvPr>
            <p:ph type="title"/>
          </p:nvPr>
        </p:nvSpPr>
        <p:spPr/>
        <p:txBody>
          <a:bodyPr/>
          <a:lstStyle/>
          <a:p>
            <a:r>
              <a:rPr lang="en-US" b="1"/>
              <a:t>Conclusions and Discussion</a:t>
            </a:r>
          </a:p>
        </p:txBody>
      </p:sp>
      <p:sp>
        <p:nvSpPr>
          <p:cNvPr id="3" name="Content Placeholder 2">
            <a:extLst>
              <a:ext uri="{FF2B5EF4-FFF2-40B4-BE49-F238E27FC236}">
                <a16:creationId xmlns:a16="http://schemas.microsoft.com/office/drawing/2014/main" id="{3A5FFC44-75C8-7824-E4F3-0582FD180D79}"/>
              </a:ext>
            </a:extLst>
          </p:cNvPr>
          <p:cNvSpPr>
            <a:spLocks noGrp="1"/>
          </p:cNvSpPr>
          <p:nvPr>
            <p:ph idx="1"/>
          </p:nvPr>
        </p:nvSpPr>
        <p:spPr/>
        <p:txBody>
          <a:bodyPr vert="horz" lIns="91440" tIns="45720" rIns="91440" bIns="45720" rtlCol="0" anchor="t">
            <a:normAutofit/>
          </a:bodyPr>
          <a:lstStyle/>
          <a:p>
            <a:r>
              <a:rPr lang="en-US"/>
              <a:t>MYC survival analysis supported our previous assumptions better than ERBB2 </a:t>
            </a:r>
          </a:p>
          <a:p>
            <a:r>
              <a:rPr lang="en-US"/>
              <a:t>CNV data is not the best for determining over-/ or </a:t>
            </a:r>
            <a:r>
              <a:rPr lang="en-US" err="1"/>
              <a:t>underexpression</a:t>
            </a:r>
            <a:r>
              <a:rPr lang="en-US"/>
              <a:t> of the genes =&gt; IHC for protein expression would be better suited</a:t>
            </a:r>
          </a:p>
          <a:p>
            <a:r>
              <a:rPr lang="en-US"/>
              <a:t>There might be more confounding factors, such as age or treatment, that should also be included in the model</a:t>
            </a:r>
          </a:p>
          <a:p>
            <a:r>
              <a:rPr lang="en-US"/>
              <a:t>It would also be interesting to look at the survival rates for MYC and ERBB2 co-expression </a:t>
            </a:r>
          </a:p>
          <a:p>
            <a:pPr marL="0" indent="0">
              <a:buNone/>
            </a:pPr>
            <a:endParaRPr lang="en-US" sz="1500"/>
          </a:p>
        </p:txBody>
      </p:sp>
    </p:spTree>
    <p:extLst>
      <p:ext uri="{BB962C8B-B14F-4D97-AF65-F5344CB8AC3E}">
        <p14:creationId xmlns:p14="http://schemas.microsoft.com/office/powerpoint/2010/main" val="3692758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2c051ab-bad7-4e25-9c99-0c38ca04ab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E1D2A46ECE0C643BE831FE6A64E357A" ma:contentTypeVersion="8" ma:contentTypeDescription="Create a new document." ma:contentTypeScope="" ma:versionID="9f35629a01c977d58d17fc9fd3e96348">
  <xsd:schema xmlns:xsd="http://www.w3.org/2001/XMLSchema" xmlns:xs="http://www.w3.org/2001/XMLSchema" xmlns:p="http://schemas.microsoft.com/office/2006/metadata/properties" xmlns:ns3="62c051ab-bad7-4e25-9c99-0c38ca04ab3f" targetNamespace="http://schemas.microsoft.com/office/2006/metadata/properties" ma:root="true" ma:fieldsID="46c9ef59e247b07bb05bf4921cf7f095" ns3:_="">
    <xsd:import namespace="62c051ab-bad7-4e25-9c99-0c38ca04ab3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051ab-bad7-4e25-9c99-0c38ca04ab3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69E722-F732-4C0B-96E4-531C86214B60}">
  <ds:schemaRefs>
    <ds:schemaRef ds:uri="http://schemas.microsoft.com/sharepoint/v3/contenttype/forms"/>
  </ds:schemaRefs>
</ds:datastoreItem>
</file>

<file path=customXml/itemProps2.xml><?xml version="1.0" encoding="utf-8"?>
<ds:datastoreItem xmlns:ds="http://schemas.openxmlformats.org/officeDocument/2006/customXml" ds:itemID="{D4B574F3-3DB9-4382-8830-4F18DCE68DF0}">
  <ds:schemaRefs>
    <ds:schemaRef ds:uri="62c051ab-bad7-4e25-9c99-0c38ca04ab3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DD178DA-C3FB-493A-A5A2-A1E52252D2CA}">
  <ds:schemaRefs>
    <ds:schemaRef ds:uri="62c051ab-bad7-4e25-9c99-0c38ca04ab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16</Slides>
  <Notes>10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Survival analysis of ERBB2 and MYC CNVs in breast cancer</vt:lpstr>
      <vt:lpstr>Demographics – BRCA cohort</vt:lpstr>
      <vt:lpstr>Stage and overall survival – BRCA Cohort</vt:lpstr>
      <vt:lpstr>PowerPoint Presentation</vt:lpstr>
      <vt:lpstr>Dataset</vt:lpstr>
      <vt:lpstr>Kaplan–Meier survival analysis</vt:lpstr>
      <vt:lpstr>Kaplan–Meier survival analysis</vt:lpstr>
      <vt:lpstr>Cox proportional hazards model  </vt:lpstr>
      <vt:lpstr>Conclusions</vt:lpstr>
      <vt:lpstr>PowerPoint Presentation</vt:lpstr>
      <vt:lpstr>MYC dataset</vt:lpstr>
      <vt:lpstr>Kaplan-Meier survival Analysis</vt:lpstr>
      <vt:lpstr>Kaplan-Meier survival Analysis</vt:lpstr>
      <vt:lpstr>Cox proportional hazards model</vt:lpstr>
      <vt:lpstr>Conclusion - MYC</vt:lpstr>
      <vt:lpstr>Conclusions and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Lucija Grginic</dc:creator>
  <cp:revision>12</cp:revision>
  <dcterms:created xsi:type="dcterms:W3CDTF">2026-04-30T08:14:17Z</dcterms:created>
  <dcterms:modified xsi:type="dcterms:W3CDTF">2026-04-30T15:27:32Z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0x0101000E1D2A46ECE0C643BE831FE6A64E357A</vt:lpwstr>
  </property>
</Properties>
</file>